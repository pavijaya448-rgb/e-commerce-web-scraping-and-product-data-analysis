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8288000" cy="10287000"/>
  <p:notesSz cx="6858000" cy="9144000"/>
  <p:embeddedFontLst>
    <p:embeddedFont>
      <p:font typeface="Nunito" pitchFamily="2" charset="0"/>
      <p:regular r:id="rId19"/>
    </p:embeddedFont>
    <p:embeddedFont>
      <p:font typeface="Nunito Bold" panose="020B0604020202020204" charset="0"/>
      <p:regular r:id="rId20"/>
    </p:embeddedFont>
    <p:embeddedFont>
      <p:font typeface="Proxima Nova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5" d="100"/>
          <a:sy n="65" d="100"/>
        </p:scale>
        <p:origin x="82" y="77"/>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12/14/2025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3195961" y="5935345"/>
            <a:ext cx="8126677" cy="8126677"/>
          </a:xfrm>
          <a:custGeom>
            <a:avLst/>
            <a:gdLst/>
            <a:ahLst/>
            <a:cxnLst/>
            <a:rect l="l" t="t" r="r" b="b"/>
            <a:pathLst>
              <a:path w="8126677" h="8126677">
                <a:moveTo>
                  <a:pt x="0" y="0"/>
                </a:moveTo>
                <a:lnTo>
                  <a:pt x="8126678" y="0"/>
                </a:lnTo>
                <a:lnTo>
                  <a:pt x="8126678" y="8126677"/>
                </a:lnTo>
                <a:lnTo>
                  <a:pt x="0" y="812667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350137" y="-1742992"/>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994970" y="-1387826"/>
            <a:ext cx="3404467" cy="3404467"/>
          </a:xfrm>
          <a:custGeom>
            <a:avLst/>
            <a:gdLst/>
            <a:ahLst/>
            <a:cxnLst/>
            <a:rect l="l" t="t" r="r" b="b"/>
            <a:pathLst>
              <a:path w="3404467" h="3404467">
                <a:moveTo>
                  <a:pt x="0" y="0"/>
                </a:moveTo>
                <a:lnTo>
                  <a:pt x="3404466" y="0"/>
                </a:lnTo>
                <a:lnTo>
                  <a:pt x="3404466" y="3404467"/>
                </a:lnTo>
                <a:lnTo>
                  <a:pt x="0" y="340446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3897411" y="6636795"/>
            <a:ext cx="6723778" cy="6723778"/>
          </a:xfrm>
          <a:custGeom>
            <a:avLst/>
            <a:gdLst/>
            <a:ahLst/>
            <a:cxnLst/>
            <a:rect l="l" t="t" r="r" b="b"/>
            <a:pathLst>
              <a:path w="6723778" h="6723778">
                <a:moveTo>
                  <a:pt x="0" y="0"/>
                </a:moveTo>
                <a:lnTo>
                  <a:pt x="6723778" y="0"/>
                </a:lnTo>
                <a:lnTo>
                  <a:pt x="6723778" y="6723778"/>
                </a:lnTo>
                <a:lnTo>
                  <a:pt x="0" y="672377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4876906" y="7616290"/>
            <a:ext cx="4764788" cy="476478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grpSp>
        <p:nvGrpSpPr>
          <p:cNvPr id="9" name="Group 9"/>
          <p:cNvGrpSpPr/>
          <p:nvPr/>
        </p:nvGrpSpPr>
        <p:grpSpPr>
          <a:xfrm>
            <a:off x="-499020" y="-891876"/>
            <a:ext cx="2412567" cy="2412567"/>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1" name="TextBox 11"/>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1001700" y="2346905"/>
            <a:ext cx="16284599" cy="1795748"/>
          </a:xfrm>
          <a:prstGeom prst="rect">
            <a:avLst/>
          </a:prstGeom>
        </p:spPr>
        <p:txBody>
          <a:bodyPr wrap="square" lIns="0" tIns="0" rIns="0" bIns="0" rtlCol="0" anchor="t">
            <a:spAutoFit/>
          </a:bodyPr>
          <a:lstStyle/>
          <a:p>
            <a:pPr algn="ctr">
              <a:lnSpc>
                <a:spcPts val="15400"/>
              </a:lnSpc>
            </a:pPr>
            <a:r>
              <a:rPr lang="en-US" sz="11000" b="1" dirty="0">
                <a:solidFill>
                  <a:srgbClr val="000000"/>
                </a:solidFill>
                <a:latin typeface="Proxima Nova Bold"/>
                <a:ea typeface="Proxima Nova Bold"/>
                <a:cs typeface="Proxima Nova Bold"/>
                <a:sym typeface="Proxima Nova Bold"/>
              </a:rPr>
              <a:t>E-COMMERCE ANALYSIS</a:t>
            </a:r>
          </a:p>
        </p:txBody>
      </p:sp>
      <p:sp>
        <p:nvSpPr>
          <p:cNvPr id="13" name="TextBox 13"/>
          <p:cNvSpPr txBox="1"/>
          <p:nvPr/>
        </p:nvSpPr>
        <p:spPr>
          <a:xfrm>
            <a:off x="821925" y="4152890"/>
            <a:ext cx="16644150" cy="1193800"/>
          </a:xfrm>
          <a:prstGeom prst="rect">
            <a:avLst/>
          </a:prstGeom>
        </p:spPr>
        <p:txBody>
          <a:bodyPr lIns="0" tIns="0" rIns="0" bIns="0" rtlCol="0" anchor="t">
            <a:spAutoFit/>
          </a:bodyPr>
          <a:lstStyle/>
          <a:p>
            <a:pPr algn="ctr">
              <a:lnSpc>
                <a:spcPts val="9799"/>
              </a:lnSpc>
            </a:pPr>
            <a:r>
              <a:rPr lang="en-US" sz="6999" b="1">
                <a:solidFill>
                  <a:srgbClr val="000000"/>
                </a:solidFill>
                <a:latin typeface="Proxima Nova Bold"/>
                <a:ea typeface="Proxima Nova Bold"/>
                <a:cs typeface="Proxima Nova Bold"/>
                <a:sym typeface="Proxima Nova Bold"/>
              </a:rPr>
              <a:t>WASHING MACHINE PRICE PREDICTION</a:t>
            </a:r>
          </a:p>
        </p:txBody>
      </p:sp>
      <p:sp>
        <p:nvSpPr>
          <p:cNvPr id="14" name="TextBox 14"/>
          <p:cNvSpPr txBox="1"/>
          <p:nvPr/>
        </p:nvSpPr>
        <p:spPr>
          <a:xfrm>
            <a:off x="1028700" y="6844786"/>
            <a:ext cx="4058635" cy="771504"/>
          </a:xfrm>
          <a:prstGeom prst="rect">
            <a:avLst/>
          </a:prstGeom>
        </p:spPr>
        <p:txBody>
          <a:bodyPr lIns="0" tIns="0" rIns="0" bIns="0" rtlCol="0" anchor="t">
            <a:spAutoFit/>
          </a:bodyPr>
          <a:lstStyle/>
          <a:p>
            <a:pPr algn="ctr">
              <a:lnSpc>
                <a:spcPts val="6299"/>
              </a:lnSpc>
            </a:pPr>
            <a:r>
              <a:rPr lang="en-US" sz="4500">
                <a:solidFill>
                  <a:srgbClr val="000000"/>
                </a:solidFill>
                <a:latin typeface="Nunito"/>
                <a:ea typeface="Nunito"/>
                <a:cs typeface="Nunito"/>
                <a:sym typeface="Nunito"/>
              </a:rPr>
              <a:t>Presented by :</a:t>
            </a:r>
          </a:p>
        </p:txBody>
      </p:sp>
      <p:sp>
        <p:nvSpPr>
          <p:cNvPr id="15" name="TextBox 15"/>
          <p:cNvSpPr txBox="1"/>
          <p:nvPr/>
        </p:nvSpPr>
        <p:spPr>
          <a:xfrm>
            <a:off x="3058018" y="7802966"/>
            <a:ext cx="5797628" cy="1455334"/>
          </a:xfrm>
          <a:prstGeom prst="rect">
            <a:avLst/>
          </a:prstGeom>
        </p:spPr>
        <p:txBody>
          <a:bodyPr lIns="0" tIns="0" rIns="0" bIns="0" rtlCol="0" anchor="t">
            <a:spAutoFit/>
          </a:bodyPr>
          <a:lstStyle/>
          <a:p>
            <a:pPr algn="l">
              <a:lnSpc>
                <a:spcPts val="5880"/>
              </a:lnSpc>
            </a:pPr>
            <a:r>
              <a:rPr lang="en-US" sz="4200">
                <a:solidFill>
                  <a:srgbClr val="000000"/>
                </a:solidFill>
                <a:latin typeface="Nunito"/>
                <a:ea typeface="Nunito"/>
                <a:cs typeface="Nunito"/>
                <a:sym typeface="Nunito"/>
              </a:rPr>
              <a:t>Pavithra M</a:t>
            </a:r>
          </a:p>
          <a:p>
            <a:pPr algn="l">
              <a:lnSpc>
                <a:spcPts val="5880"/>
              </a:lnSpc>
            </a:pPr>
            <a:r>
              <a:rPr lang="en-US" sz="4200">
                <a:solidFill>
                  <a:srgbClr val="000000"/>
                </a:solidFill>
                <a:latin typeface="Nunito"/>
                <a:ea typeface="Nunito"/>
                <a:cs typeface="Nunito"/>
                <a:sym typeface="Nunito"/>
              </a:rPr>
              <a:t>DADS July A Cohort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4366784" y="405998"/>
            <a:ext cx="9554432" cy="1193800"/>
          </a:xfrm>
          <a:prstGeom prst="rect">
            <a:avLst/>
          </a:prstGeom>
        </p:spPr>
        <p:txBody>
          <a:bodyPr lIns="0" tIns="0" rIns="0" bIns="0" rtlCol="0" anchor="t">
            <a:spAutoFit/>
          </a:bodyPr>
          <a:lstStyle/>
          <a:p>
            <a:pPr algn="ctr">
              <a:lnSpc>
                <a:spcPts val="9799"/>
              </a:lnSpc>
            </a:pPr>
            <a:r>
              <a:rPr lang="en-US" sz="6999" b="1" dirty="0">
                <a:solidFill>
                  <a:srgbClr val="000000"/>
                </a:solidFill>
                <a:latin typeface="Proxima Nova Bold"/>
                <a:ea typeface="Proxima Nova Bold"/>
                <a:cs typeface="Proxima Nova Bold"/>
                <a:sym typeface="Proxima Nova Bold"/>
              </a:rPr>
              <a:t>PROBLEM STATEMENT</a:t>
            </a:r>
          </a:p>
        </p:txBody>
      </p:sp>
      <p:sp>
        <p:nvSpPr>
          <p:cNvPr id="3" name="TextBox 3"/>
          <p:cNvSpPr txBox="1"/>
          <p:nvPr/>
        </p:nvSpPr>
        <p:spPr>
          <a:xfrm>
            <a:off x="1028700" y="2552514"/>
            <a:ext cx="16230600" cy="5848536"/>
          </a:xfrm>
          <a:prstGeom prst="rect">
            <a:avLst/>
          </a:prstGeom>
        </p:spPr>
        <p:txBody>
          <a:bodyPr lIns="0" tIns="0" rIns="0" bIns="0" rtlCol="0" anchor="t">
            <a:spAutoFit/>
          </a:bodyPr>
          <a:lstStyle/>
          <a:p>
            <a:pPr marL="648129" lvl="1" indent="-324065" algn="l">
              <a:lnSpc>
                <a:spcPts val="4202"/>
              </a:lnSpc>
              <a:buFont typeface="Arial"/>
              <a:buChar char="•"/>
            </a:pPr>
            <a:r>
              <a:rPr lang="en-US" sz="3001">
                <a:solidFill>
                  <a:srgbClr val="000000"/>
                </a:solidFill>
                <a:latin typeface="Nunito"/>
                <a:ea typeface="Nunito"/>
                <a:cs typeface="Nunito"/>
                <a:sym typeface="Nunito"/>
              </a:rPr>
              <a:t>On e-commerce platforms like Flipkart, washing machines are offered in a wide variety of brands, price ranges, and feature combinations, which makes it challenging for customers to compare products and for sellers to set competitive prices. </a:t>
            </a:r>
          </a:p>
          <a:p>
            <a:pPr algn="l">
              <a:lnSpc>
                <a:spcPts val="4202"/>
              </a:lnSpc>
            </a:pPr>
            <a:endParaRPr lang="en-US" sz="3001">
              <a:solidFill>
                <a:srgbClr val="000000"/>
              </a:solidFill>
              <a:latin typeface="Nunito"/>
              <a:ea typeface="Nunito"/>
              <a:cs typeface="Nunito"/>
              <a:sym typeface="Nunito"/>
            </a:endParaRPr>
          </a:p>
          <a:p>
            <a:pPr marL="648129" lvl="1" indent="-324065" algn="l">
              <a:lnSpc>
                <a:spcPts val="4202"/>
              </a:lnSpc>
              <a:buFont typeface="Arial"/>
              <a:buChar char="•"/>
            </a:pPr>
            <a:r>
              <a:rPr lang="en-US" sz="3001">
                <a:solidFill>
                  <a:srgbClr val="000000"/>
                </a:solidFill>
                <a:latin typeface="Nunito"/>
                <a:ea typeface="Nunito"/>
                <a:cs typeface="Nunito"/>
                <a:sym typeface="Nunito"/>
              </a:rPr>
              <a:t>The absence of structured insights into pricing trends and feature influence can lead to poor purchase and pricing decisions. </a:t>
            </a:r>
          </a:p>
          <a:p>
            <a:pPr algn="l">
              <a:lnSpc>
                <a:spcPts val="4202"/>
              </a:lnSpc>
            </a:pPr>
            <a:endParaRPr lang="en-US" sz="3001">
              <a:solidFill>
                <a:srgbClr val="000000"/>
              </a:solidFill>
              <a:latin typeface="Nunito"/>
              <a:ea typeface="Nunito"/>
              <a:cs typeface="Nunito"/>
              <a:sym typeface="Nunito"/>
            </a:endParaRPr>
          </a:p>
          <a:p>
            <a:pPr marL="648129" lvl="1" indent="-324065" algn="l">
              <a:lnSpc>
                <a:spcPts val="4202"/>
              </a:lnSpc>
              <a:buFont typeface="Arial"/>
              <a:buChar char="•"/>
            </a:pPr>
            <a:r>
              <a:rPr lang="en-US" sz="3001">
                <a:solidFill>
                  <a:srgbClr val="000000"/>
                </a:solidFill>
                <a:latin typeface="Nunito"/>
                <a:ea typeface="Nunito"/>
                <a:cs typeface="Nunito"/>
                <a:sym typeface="Nunito"/>
              </a:rPr>
              <a:t>This project focuses on analyzing Flipkart washing machine data to identify price patterns, understand the impact of product features on pricing, and apply machine learning techniques to generate meaningful insights that support better decision-making for both customers and sellers.</a:t>
            </a:r>
          </a:p>
        </p:txBody>
      </p:sp>
      <p:sp>
        <p:nvSpPr>
          <p:cNvPr id="4" name="Freeform 4"/>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TextBox 2"/>
          <p:cNvSpPr txBox="1"/>
          <p:nvPr/>
        </p:nvSpPr>
        <p:spPr>
          <a:xfrm>
            <a:off x="4295901" y="365125"/>
            <a:ext cx="9696198" cy="1193800"/>
          </a:xfrm>
          <a:prstGeom prst="rect">
            <a:avLst/>
          </a:prstGeom>
        </p:spPr>
        <p:txBody>
          <a:bodyPr lIns="0" tIns="0" rIns="0" bIns="0" rtlCol="0" anchor="t">
            <a:spAutoFit/>
          </a:bodyPr>
          <a:lstStyle/>
          <a:p>
            <a:pPr algn="ctr">
              <a:lnSpc>
                <a:spcPts val="9799"/>
              </a:lnSpc>
            </a:pPr>
            <a:r>
              <a:rPr lang="en-US" sz="6999" b="1">
                <a:solidFill>
                  <a:srgbClr val="000000"/>
                </a:solidFill>
                <a:latin typeface="Proxima Nova Bold"/>
                <a:ea typeface="Proxima Nova Bold"/>
                <a:cs typeface="Proxima Nova Bold"/>
                <a:sym typeface="Proxima Nova Bold"/>
              </a:rPr>
              <a:t>PROJECT OBJECTIVES</a:t>
            </a:r>
          </a:p>
        </p:txBody>
      </p:sp>
      <p:sp>
        <p:nvSpPr>
          <p:cNvPr id="3" name="TextBox 3"/>
          <p:cNvSpPr txBox="1"/>
          <p:nvPr/>
        </p:nvSpPr>
        <p:spPr>
          <a:xfrm>
            <a:off x="1469571" y="2258550"/>
            <a:ext cx="15348857" cy="7448850"/>
          </a:xfrm>
          <a:prstGeom prst="rect">
            <a:avLst/>
          </a:prstGeom>
        </p:spPr>
        <p:txBody>
          <a:bodyPr lIns="0" tIns="0" rIns="0" bIns="0" rtlCol="0" anchor="t">
            <a:spAutoFit/>
          </a:bodyPr>
          <a:lstStyle/>
          <a:p>
            <a:pPr marL="647703" lvl="1" indent="-323852" algn="l">
              <a:lnSpc>
                <a:spcPts val="4200"/>
              </a:lnSpc>
              <a:buFont typeface="Arial"/>
              <a:buChar char="•"/>
            </a:pPr>
            <a:r>
              <a:rPr lang="en-US" sz="3000">
                <a:solidFill>
                  <a:srgbClr val="000000"/>
                </a:solidFill>
                <a:latin typeface="Nunito"/>
                <a:ea typeface="Nunito"/>
                <a:cs typeface="Nunito"/>
                <a:sym typeface="Nunito"/>
              </a:rPr>
              <a:t>To collect and preprocess e-commerce washing machine data from Flipkart.</a:t>
            </a:r>
          </a:p>
          <a:p>
            <a:pPr algn="l">
              <a:lnSpc>
                <a:spcPts val="4200"/>
              </a:lnSpc>
            </a:pPr>
            <a:endParaRPr lang="en-US" sz="3000">
              <a:solidFill>
                <a:srgbClr val="000000"/>
              </a:solidFill>
              <a:latin typeface="Nunito"/>
              <a:ea typeface="Nunito"/>
              <a:cs typeface="Nunito"/>
              <a:sym typeface="Nunito"/>
            </a:endParaRPr>
          </a:p>
          <a:p>
            <a:pPr marL="647703" lvl="1" indent="-323852" algn="l">
              <a:lnSpc>
                <a:spcPts val="4200"/>
              </a:lnSpc>
              <a:buFont typeface="Arial"/>
              <a:buChar char="•"/>
            </a:pPr>
            <a:r>
              <a:rPr lang="en-US" sz="3000">
                <a:solidFill>
                  <a:srgbClr val="000000"/>
                </a:solidFill>
                <a:latin typeface="Nunito"/>
                <a:ea typeface="Nunito"/>
                <a:cs typeface="Nunito"/>
                <a:sym typeface="Nunito"/>
              </a:rPr>
              <a:t>To perform exploratory data analysis to identify pricing trends and patterns.</a:t>
            </a:r>
          </a:p>
          <a:p>
            <a:pPr algn="l">
              <a:lnSpc>
                <a:spcPts val="4200"/>
              </a:lnSpc>
            </a:pPr>
            <a:endParaRPr lang="en-US" sz="3000">
              <a:solidFill>
                <a:srgbClr val="000000"/>
              </a:solidFill>
              <a:latin typeface="Nunito"/>
              <a:ea typeface="Nunito"/>
              <a:cs typeface="Nunito"/>
              <a:sym typeface="Nunito"/>
            </a:endParaRPr>
          </a:p>
          <a:p>
            <a:pPr marL="647703" lvl="1" indent="-323852" algn="l">
              <a:lnSpc>
                <a:spcPts val="4200"/>
              </a:lnSpc>
              <a:buFont typeface="Arial"/>
              <a:buChar char="•"/>
            </a:pPr>
            <a:r>
              <a:rPr lang="en-US" sz="3000">
                <a:solidFill>
                  <a:srgbClr val="000000"/>
                </a:solidFill>
                <a:latin typeface="Nunito"/>
                <a:ea typeface="Nunito"/>
                <a:cs typeface="Nunito"/>
                <a:sym typeface="Nunito"/>
              </a:rPr>
              <a:t>To apply unsupervised learning techniques for data labeling.</a:t>
            </a:r>
          </a:p>
          <a:p>
            <a:pPr algn="l">
              <a:lnSpc>
                <a:spcPts val="4200"/>
              </a:lnSpc>
            </a:pPr>
            <a:endParaRPr lang="en-US" sz="3000">
              <a:solidFill>
                <a:srgbClr val="000000"/>
              </a:solidFill>
              <a:latin typeface="Nunito"/>
              <a:ea typeface="Nunito"/>
              <a:cs typeface="Nunito"/>
              <a:sym typeface="Nunito"/>
            </a:endParaRPr>
          </a:p>
          <a:p>
            <a:pPr marL="647703" lvl="1" indent="-323852" algn="l">
              <a:lnSpc>
                <a:spcPts val="4200"/>
              </a:lnSpc>
              <a:buFont typeface="Arial"/>
              <a:buChar char="•"/>
            </a:pPr>
            <a:r>
              <a:rPr lang="en-US" sz="3000">
                <a:solidFill>
                  <a:srgbClr val="000000"/>
                </a:solidFill>
                <a:latin typeface="Nunito"/>
                <a:ea typeface="Nunito"/>
                <a:cs typeface="Nunito"/>
                <a:sym typeface="Nunito"/>
              </a:rPr>
              <a:t>To develop supervised machine learning models for price prediction and classification.</a:t>
            </a:r>
          </a:p>
          <a:p>
            <a:pPr algn="l">
              <a:lnSpc>
                <a:spcPts val="4200"/>
              </a:lnSpc>
            </a:pPr>
            <a:endParaRPr lang="en-US" sz="3000">
              <a:solidFill>
                <a:srgbClr val="000000"/>
              </a:solidFill>
              <a:latin typeface="Nunito"/>
              <a:ea typeface="Nunito"/>
              <a:cs typeface="Nunito"/>
              <a:sym typeface="Nunito"/>
            </a:endParaRPr>
          </a:p>
          <a:p>
            <a:pPr marL="647703" lvl="1" indent="-323852" algn="l">
              <a:lnSpc>
                <a:spcPts val="4200"/>
              </a:lnSpc>
              <a:buFont typeface="Arial"/>
              <a:buChar char="•"/>
            </a:pPr>
            <a:r>
              <a:rPr lang="en-US" sz="3000">
                <a:solidFill>
                  <a:srgbClr val="000000"/>
                </a:solidFill>
                <a:latin typeface="Nunito"/>
                <a:ea typeface="Nunito"/>
                <a:cs typeface="Nunito"/>
                <a:sym typeface="Nunito"/>
              </a:rPr>
              <a:t>To optimize model performance using hyperparameter tuning.</a:t>
            </a:r>
          </a:p>
          <a:p>
            <a:pPr algn="l">
              <a:lnSpc>
                <a:spcPts val="4200"/>
              </a:lnSpc>
            </a:pPr>
            <a:endParaRPr lang="en-US" sz="3000">
              <a:solidFill>
                <a:srgbClr val="000000"/>
              </a:solidFill>
              <a:latin typeface="Nunito"/>
              <a:ea typeface="Nunito"/>
              <a:cs typeface="Nunito"/>
              <a:sym typeface="Nunito"/>
            </a:endParaRPr>
          </a:p>
          <a:p>
            <a:pPr marL="647703" lvl="1" indent="-323852" algn="l">
              <a:lnSpc>
                <a:spcPts val="4200"/>
              </a:lnSpc>
              <a:buFont typeface="Arial"/>
              <a:buChar char="•"/>
            </a:pPr>
            <a:r>
              <a:rPr lang="en-US" sz="3000">
                <a:solidFill>
                  <a:srgbClr val="000000"/>
                </a:solidFill>
                <a:latin typeface="Nunito"/>
                <a:ea typeface="Nunito"/>
                <a:cs typeface="Nunito"/>
                <a:sym typeface="Nunito"/>
              </a:rPr>
              <a:t>To deploy the optimized model as an interactive application using Streamlit.</a:t>
            </a:r>
          </a:p>
          <a:p>
            <a:pPr algn="l">
              <a:lnSpc>
                <a:spcPts val="4200"/>
              </a:lnSpc>
            </a:pPr>
            <a:endParaRPr lang="en-US" sz="3000">
              <a:solidFill>
                <a:srgbClr val="000000"/>
              </a:solidFill>
              <a:latin typeface="Nunito"/>
              <a:ea typeface="Nunito"/>
              <a:cs typeface="Nunito"/>
              <a:sym typeface="Nunito"/>
            </a:endParaRPr>
          </a:p>
          <a:p>
            <a:pPr marL="647703" lvl="1" indent="-323852" algn="l">
              <a:lnSpc>
                <a:spcPts val="4200"/>
              </a:lnSpc>
              <a:buFont typeface="Arial"/>
              <a:buChar char="•"/>
            </a:pPr>
            <a:r>
              <a:rPr lang="en-US" sz="3000">
                <a:solidFill>
                  <a:srgbClr val="000000"/>
                </a:solidFill>
                <a:latin typeface="Nunito"/>
                <a:ea typeface="Nunito"/>
                <a:cs typeface="Nunito"/>
                <a:sym typeface="Nunito"/>
              </a:rPr>
              <a:t>To enabled data-driven solutions by building a reliable dataset to support analytical insights and decision-making.</a:t>
            </a:r>
          </a:p>
        </p:txBody>
      </p:sp>
      <p:sp>
        <p:nvSpPr>
          <p:cNvPr id="4" name="Freeform 4"/>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5090951" y="647700"/>
            <a:ext cx="8106098" cy="1193800"/>
          </a:xfrm>
          <a:prstGeom prst="rect">
            <a:avLst/>
          </a:prstGeom>
        </p:spPr>
        <p:txBody>
          <a:bodyPr lIns="0" tIns="0" rIns="0" bIns="0" rtlCol="0" anchor="t">
            <a:spAutoFit/>
          </a:bodyPr>
          <a:lstStyle/>
          <a:p>
            <a:pPr algn="ctr">
              <a:lnSpc>
                <a:spcPts val="9799"/>
              </a:lnSpc>
            </a:pPr>
            <a:r>
              <a:rPr lang="en-US" sz="6999" b="1" dirty="0">
                <a:solidFill>
                  <a:srgbClr val="000000"/>
                </a:solidFill>
                <a:latin typeface="Proxima Nova Bold"/>
                <a:ea typeface="Proxima Nova Bold"/>
                <a:cs typeface="Proxima Nova Bold"/>
                <a:sym typeface="Proxima Nova Bold"/>
              </a:rPr>
              <a:t>DATA COLLECTION</a:t>
            </a:r>
          </a:p>
        </p:txBody>
      </p:sp>
      <p:sp>
        <p:nvSpPr>
          <p:cNvPr id="5" name="TextBox 5"/>
          <p:cNvSpPr txBox="1"/>
          <p:nvPr/>
        </p:nvSpPr>
        <p:spPr>
          <a:xfrm>
            <a:off x="1421186" y="3038475"/>
            <a:ext cx="15445628" cy="4162425"/>
          </a:xfrm>
          <a:prstGeom prst="rect">
            <a:avLst/>
          </a:prstGeom>
        </p:spPr>
        <p:txBody>
          <a:bodyPr lIns="0" tIns="0" rIns="0" bIns="0" rtlCol="0" anchor="t">
            <a:spAutoFit/>
          </a:bodyPr>
          <a:lstStyle/>
          <a:p>
            <a:pPr marL="647698" lvl="1" indent="-323849" algn="l">
              <a:lnSpc>
                <a:spcPts val="4199"/>
              </a:lnSpc>
              <a:buFont typeface="Arial"/>
              <a:buChar char="•"/>
            </a:pPr>
            <a:r>
              <a:rPr lang="en-US" sz="2999">
                <a:solidFill>
                  <a:srgbClr val="000000"/>
                </a:solidFill>
                <a:latin typeface="Nunito"/>
                <a:ea typeface="Nunito"/>
                <a:cs typeface="Nunito"/>
                <a:sym typeface="Nunito"/>
              </a:rPr>
              <a:t>Data was systematically collected from the Flipkart e-commerce platform using automated web scraping techniques. </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Relevant product information, including brand, price, capacity, load type, machine type, and customer ratings, was extracted from product listings. </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The raw data was then reviewed to ensure accuracy and completeness before proceeding to preprocessing and analysis.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700405" y="2302389"/>
            <a:ext cx="14887190" cy="7305675"/>
          </a:xfrm>
          <a:prstGeom prst="rect">
            <a:avLst/>
          </a:prstGeom>
        </p:spPr>
        <p:txBody>
          <a:bodyPr lIns="0" tIns="0" rIns="0" bIns="0" rtlCol="0" anchor="t">
            <a:spAutoFit/>
          </a:bodyPr>
          <a:lstStyle/>
          <a:p>
            <a:pPr algn="just">
              <a:lnSpc>
                <a:spcPts val="4199"/>
              </a:lnSpc>
            </a:pPr>
            <a:r>
              <a:rPr lang="en-US" sz="2999">
                <a:solidFill>
                  <a:srgbClr val="000000"/>
                </a:solidFill>
                <a:latin typeface="Nunito"/>
                <a:ea typeface="Nunito"/>
                <a:cs typeface="Nunito"/>
                <a:sym typeface="Nunito"/>
              </a:rPr>
              <a:t>Relevant product attributes were extracted from the raw Flipkart data using regular expressions (regex) to parse and clean unstructured text.This process ensured accurate and consistent data for analysis.</a:t>
            </a:r>
          </a:p>
          <a:p>
            <a:pPr algn="just">
              <a:lnSpc>
                <a:spcPts val="4199"/>
              </a:lnSpc>
            </a:pPr>
            <a:endParaRPr lang="en-US" sz="2999">
              <a:solidFill>
                <a:srgbClr val="000000"/>
              </a:solidFill>
              <a:latin typeface="Nunito"/>
              <a:ea typeface="Nunito"/>
              <a:cs typeface="Nunito"/>
              <a:sym typeface="Nunito"/>
            </a:endParaRPr>
          </a:p>
          <a:p>
            <a:pPr algn="l">
              <a:lnSpc>
                <a:spcPts val="4199"/>
              </a:lnSpc>
            </a:pPr>
            <a:r>
              <a:rPr lang="en-US" sz="2999" b="1">
                <a:solidFill>
                  <a:srgbClr val="000000"/>
                </a:solidFill>
                <a:latin typeface="Nunito Bold"/>
                <a:ea typeface="Nunito Bold"/>
                <a:cs typeface="Nunito Bold"/>
                <a:sym typeface="Nunito Bold"/>
              </a:rPr>
              <a:t>Key features :</a:t>
            </a:r>
          </a:p>
          <a:p>
            <a:pPr marL="647698" lvl="1" indent="-323849" algn="just">
              <a:lnSpc>
                <a:spcPts val="4199"/>
              </a:lnSpc>
              <a:buFont typeface="Arial"/>
              <a:buChar char="•"/>
            </a:pPr>
            <a:r>
              <a:rPr lang="en-US" sz="2999">
                <a:solidFill>
                  <a:srgbClr val="000000"/>
                </a:solidFill>
                <a:latin typeface="Nunito"/>
                <a:ea typeface="Nunito"/>
                <a:cs typeface="Nunito"/>
                <a:sym typeface="Nunito"/>
              </a:rPr>
              <a:t>Brand</a:t>
            </a:r>
          </a:p>
          <a:p>
            <a:pPr marL="647698" lvl="1" indent="-323849" algn="just">
              <a:lnSpc>
                <a:spcPts val="4199"/>
              </a:lnSpc>
              <a:buFont typeface="Arial"/>
              <a:buChar char="•"/>
            </a:pPr>
            <a:r>
              <a:rPr lang="en-US" sz="2999">
                <a:solidFill>
                  <a:srgbClr val="000000"/>
                </a:solidFill>
                <a:latin typeface="Nunito"/>
                <a:ea typeface="Nunito"/>
                <a:cs typeface="Nunito"/>
                <a:sym typeface="Nunito"/>
              </a:rPr>
              <a:t>Capacity_kg</a:t>
            </a:r>
          </a:p>
          <a:p>
            <a:pPr marL="647698" lvl="1" indent="-323849" algn="just">
              <a:lnSpc>
                <a:spcPts val="4199"/>
              </a:lnSpc>
              <a:buFont typeface="Arial"/>
              <a:buChar char="•"/>
            </a:pPr>
            <a:r>
              <a:rPr lang="en-US" sz="2999">
                <a:solidFill>
                  <a:srgbClr val="000000"/>
                </a:solidFill>
                <a:latin typeface="Nunito"/>
                <a:ea typeface="Nunito"/>
                <a:cs typeface="Nunito"/>
                <a:sym typeface="Nunito"/>
              </a:rPr>
              <a:t>Load type</a:t>
            </a:r>
          </a:p>
          <a:p>
            <a:pPr marL="647698" lvl="1" indent="-323849" algn="just">
              <a:lnSpc>
                <a:spcPts val="4199"/>
              </a:lnSpc>
              <a:buFont typeface="Arial"/>
              <a:buChar char="•"/>
            </a:pPr>
            <a:r>
              <a:rPr lang="en-US" sz="2999">
                <a:solidFill>
                  <a:srgbClr val="000000"/>
                </a:solidFill>
                <a:latin typeface="Nunito"/>
                <a:ea typeface="Nunito"/>
                <a:cs typeface="Nunito"/>
                <a:sym typeface="Nunito"/>
              </a:rPr>
              <a:t>Machine type</a:t>
            </a:r>
          </a:p>
          <a:p>
            <a:pPr marL="647698" lvl="1" indent="-323849" algn="just">
              <a:lnSpc>
                <a:spcPts val="4199"/>
              </a:lnSpc>
              <a:buFont typeface="Arial"/>
              <a:buChar char="•"/>
            </a:pPr>
            <a:r>
              <a:rPr lang="en-US" sz="2999">
                <a:solidFill>
                  <a:srgbClr val="000000"/>
                </a:solidFill>
                <a:latin typeface="Nunito"/>
                <a:ea typeface="Nunito"/>
                <a:cs typeface="Nunito"/>
                <a:sym typeface="Nunito"/>
              </a:rPr>
              <a:t>RPM</a:t>
            </a:r>
          </a:p>
          <a:p>
            <a:pPr marL="647698" lvl="1" indent="-323849" algn="just">
              <a:lnSpc>
                <a:spcPts val="4199"/>
              </a:lnSpc>
              <a:buFont typeface="Arial"/>
              <a:buChar char="•"/>
            </a:pPr>
            <a:r>
              <a:rPr lang="en-US" sz="2999">
                <a:solidFill>
                  <a:srgbClr val="000000"/>
                </a:solidFill>
                <a:latin typeface="Nunito"/>
                <a:ea typeface="Nunito"/>
                <a:cs typeface="Nunito"/>
                <a:sym typeface="Nunito"/>
              </a:rPr>
              <a:t>Price</a:t>
            </a:r>
          </a:p>
          <a:p>
            <a:pPr marL="647698" lvl="1" indent="-323849" algn="just">
              <a:lnSpc>
                <a:spcPts val="4199"/>
              </a:lnSpc>
              <a:buFont typeface="Arial"/>
              <a:buChar char="•"/>
            </a:pPr>
            <a:r>
              <a:rPr lang="en-US" sz="2999">
                <a:solidFill>
                  <a:srgbClr val="000000"/>
                </a:solidFill>
                <a:latin typeface="Nunito"/>
                <a:ea typeface="Nunito"/>
                <a:cs typeface="Nunito"/>
                <a:sym typeface="Nunito"/>
              </a:rPr>
              <a:t>Discount</a:t>
            </a:r>
          </a:p>
          <a:p>
            <a:pPr marL="647698" lvl="1" indent="-323849" algn="just">
              <a:lnSpc>
                <a:spcPts val="4199"/>
              </a:lnSpc>
              <a:buFont typeface="Arial"/>
              <a:buChar char="•"/>
            </a:pPr>
            <a:r>
              <a:rPr lang="en-US" sz="2999">
                <a:solidFill>
                  <a:srgbClr val="000000"/>
                </a:solidFill>
                <a:latin typeface="Nunito"/>
                <a:ea typeface="Nunito"/>
                <a:cs typeface="Nunito"/>
                <a:sym typeface="Nunito"/>
              </a:rPr>
              <a:t>Total_Ratings </a:t>
            </a:r>
          </a:p>
          <a:p>
            <a:pPr marL="647698" lvl="1" indent="-323849" algn="just">
              <a:lnSpc>
                <a:spcPts val="4199"/>
              </a:lnSpc>
              <a:buFont typeface="Arial"/>
              <a:buChar char="•"/>
            </a:pPr>
            <a:r>
              <a:rPr lang="en-US" sz="2999">
                <a:solidFill>
                  <a:srgbClr val="000000"/>
                </a:solidFill>
                <a:latin typeface="Nunito"/>
                <a:ea typeface="Nunito"/>
                <a:cs typeface="Nunito"/>
                <a:sym typeface="Nunito"/>
              </a:rPr>
              <a:t>Total_Reviews </a:t>
            </a:r>
          </a:p>
        </p:txBody>
      </p:sp>
      <p:sp>
        <p:nvSpPr>
          <p:cNvPr id="5" name="Freeform 5"/>
          <p:cNvSpPr/>
          <p:nvPr/>
        </p:nvSpPr>
        <p:spPr>
          <a:xfrm>
            <a:off x="5746933" y="4908553"/>
            <a:ext cx="12161870" cy="3060480"/>
          </a:xfrm>
          <a:custGeom>
            <a:avLst/>
            <a:gdLst/>
            <a:ahLst/>
            <a:cxnLst/>
            <a:rect l="l" t="t" r="r" b="b"/>
            <a:pathLst>
              <a:path w="12161870" h="3060480">
                <a:moveTo>
                  <a:pt x="0" y="0"/>
                </a:moveTo>
                <a:lnTo>
                  <a:pt x="12161871" y="0"/>
                </a:lnTo>
                <a:lnTo>
                  <a:pt x="12161871" y="3060480"/>
                </a:lnTo>
                <a:lnTo>
                  <a:pt x="0" y="3060480"/>
                </a:lnTo>
                <a:lnTo>
                  <a:pt x="0" y="0"/>
                </a:lnTo>
                <a:close/>
              </a:path>
            </a:pathLst>
          </a:custGeom>
          <a:blipFill>
            <a:blip r:embed="rId4"/>
            <a:stretch>
              <a:fillRect l="-31385" t="-194405" r="-63206" b="-116400"/>
            </a:stretch>
          </a:blipFill>
        </p:spPr>
      </p:sp>
      <p:sp>
        <p:nvSpPr>
          <p:cNvPr id="6" name="TextBox 6"/>
          <p:cNvSpPr txBox="1"/>
          <p:nvPr/>
        </p:nvSpPr>
        <p:spPr>
          <a:xfrm>
            <a:off x="4296757" y="365125"/>
            <a:ext cx="9694486" cy="1193800"/>
          </a:xfrm>
          <a:prstGeom prst="rect">
            <a:avLst/>
          </a:prstGeom>
        </p:spPr>
        <p:txBody>
          <a:bodyPr lIns="0" tIns="0" rIns="0" bIns="0" rtlCol="0" anchor="t">
            <a:spAutoFit/>
          </a:bodyPr>
          <a:lstStyle/>
          <a:p>
            <a:pPr algn="ctr">
              <a:lnSpc>
                <a:spcPts val="9799"/>
              </a:lnSpc>
            </a:pPr>
            <a:r>
              <a:rPr lang="en-US" sz="6999" b="1">
                <a:solidFill>
                  <a:srgbClr val="000000"/>
                </a:solidFill>
                <a:latin typeface="Proxima Nova Bold"/>
                <a:ea typeface="Proxima Nova Bold"/>
                <a:cs typeface="Proxima Nova Bold"/>
                <a:sym typeface="Proxima Nova Bold"/>
              </a:rPr>
              <a:t>FEATURE EXTRACTION</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1643630" y="431800"/>
            <a:ext cx="15425385" cy="1193800"/>
          </a:xfrm>
          <a:prstGeom prst="rect">
            <a:avLst/>
          </a:prstGeom>
        </p:spPr>
        <p:txBody>
          <a:bodyPr lIns="0" tIns="0" rIns="0" bIns="0" rtlCol="0" anchor="t">
            <a:spAutoFit/>
          </a:bodyPr>
          <a:lstStyle/>
          <a:p>
            <a:pPr algn="ctr">
              <a:lnSpc>
                <a:spcPts val="9799"/>
              </a:lnSpc>
            </a:pPr>
            <a:r>
              <a:rPr lang="en-US" sz="6999" b="1" dirty="0">
                <a:solidFill>
                  <a:srgbClr val="000000"/>
                </a:solidFill>
                <a:latin typeface="Proxima Nova Bold"/>
                <a:ea typeface="Proxima Nova Bold"/>
                <a:cs typeface="Proxima Nova Bold"/>
                <a:sym typeface="Proxima Nova Bold"/>
              </a:rPr>
              <a:t>DATA CLEANING &amp; PREPROCESSING</a:t>
            </a:r>
          </a:p>
        </p:txBody>
      </p:sp>
      <p:sp>
        <p:nvSpPr>
          <p:cNvPr id="5" name="TextBox 5"/>
          <p:cNvSpPr txBox="1"/>
          <p:nvPr/>
        </p:nvSpPr>
        <p:spPr>
          <a:xfrm>
            <a:off x="1620184" y="2476500"/>
            <a:ext cx="15047632" cy="6781800"/>
          </a:xfrm>
          <a:prstGeom prst="rect">
            <a:avLst/>
          </a:prstGeom>
        </p:spPr>
        <p:txBody>
          <a:bodyPr lIns="0" tIns="0" rIns="0" bIns="0" rtlCol="0" anchor="t">
            <a:spAutoFit/>
          </a:bodyPr>
          <a:lstStyle/>
          <a:p>
            <a:pPr marL="647698" lvl="1" indent="-323849" algn="just">
              <a:lnSpc>
                <a:spcPts val="4199"/>
              </a:lnSpc>
              <a:buFont typeface="Arial"/>
              <a:buChar char="•"/>
            </a:pPr>
            <a:r>
              <a:rPr lang="en-US" sz="2999">
                <a:solidFill>
                  <a:srgbClr val="000000"/>
                </a:solidFill>
                <a:latin typeface="Nunito"/>
                <a:ea typeface="Nunito"/>
                <a:cs typeface="Nunito"/>
                <a:sym typeface="Nunito"/>
              </a:rPr>
              <a:t>Missing values were identified and handled to ensure dataset completeness.</a:t>
            </a:r>
          </a:p>
          <a:p>
            <a:pPr algn="just">
              <a:lnSpc>
                <a:spcPts val="4199"/>
              </a:lnSpc>
            </a:pPr>
            <a:endParaRPr lang="en-US" sz="2999">
              <a:solidFill>
                <a:srgbClr val="000000"/>
              </a:solidFill>
              <a:latin typeface="Nunito"/>
              <a:ea typeface="Nunito"/>
              <a:cs typeface="Nunito"/>
              <a:sym typeface="Nunito"/>
            </a:endParaRPr>
          </a:p>
          <a:p>
            <a:pPr marL="647698" lvl="1" indent="-323849" algn="just">
              <a:lnSpc>
                <a:spcPts val="4199"/>
              </a:lnSpc>
              <a:buFont typeface="Arial"/>
              <a:buChar char="•"/>
            </a:pPr>
            <a:r>
              <a:rPr lang="en-US" sz="2999">
                <a:solidFill>
                  <a:srgbClr val="000000"/>
                </a:solidFill>
                <a:latin typeface="Nunito"/>
                <a:ea typeface="Nunito"/>
                <a:cs typeface="Nunito"/>
                <a:sym typeface="Nunito"/>
              </a:rPr>
              <a:t>Outliers in numerical features, such as price and capacity, were analyzed and treated.</a:t>
            </a:r>
          </a:p>
          <a:p>
            <a:pPr algn="just">
              <a:lnSpc>
                <a:spcPts val="4199"/>
              </a:lnSpc>
            </a:pPr>
            <a:endParaRPr lang="en-US" sz="2999">
              <a:solidFill>
                <a:srgbClr val="000000"/>
              </a:solidFill>
              <a:latin typeface="Nunito"/>
              <a:ea typeface="Nunito"/>
              <a:cs typeface="Nunito"/>
              <a:sym typeface="Nunito"/>
            </a:endParaRPr>
          </a:p>
          <a:p>
            <a:pPr marL="647698" lvl="1" indent="-323849" algn="just">
              <a:lnSpc>
                <a:spcPts val="4199"/>
              </a:lnSpc>
              <a:buFont typeface="Arial"/>
              <a:buChar char="•"/>
            </a:pPr>
            <a:r>
              <a:rPr lang="en-US" sz="2999">
                <a:solidFill>
                  <a:srgbClr val="000000"/>
                </a:solidFill>
                <a:latin typeface="Nunito"/>
                <a:ea typeface="Nunito"/>
                <a:cs typeface="Nunito"/>
                <a:sym typeface="Nunito"/>
              </a:rPr>
              <a:t>Categorical variables, like load type and machine type, were encoded using Label Encoding.</a:t>
            </a:r>
          </a:p>
          <a:p>
            <a:pPr algn="just">
              <a:lnSpc>
                <a:spcPts val="4199"/>
              </a:lnSpc>
            </a:pPr>
            <a:endParaRPr lang="en-US" sz="2999">
              <a:solidFill>
                <a:srgbClr val="000000"/>
              </a:solidFill>
              <a:latin typeface="Nunito"/>
              <a:ea typeface="Nunito"/>
              <a:cs typeface="Nunito"/>
              <a:sym typeface="Nunito"/>
            </a:endParaRPr>
          </a:p>
          <a:p>
            <a:pPr marL="647698" lvl="1" indent="-323849" algn="just">
              <a:lnSpc>
                <a:spcPts val="4199"/>
              </a:lnSpc>
              <a:buFont typeface="Arial"/>
              <a:buChar char="•"/>
            </a:pPr>
            <a:r>
              <a:rPr lang="en-US" sz="2999">
                <a:solidFill>
                  <a:srgbClr val="000000"/>
                </a:solidFill>
                <a:latin typeface="Nunito"/>
                <a:ea typeface="Nunito"/>
                <a:cs typeface="Nunito"/>
                <a:sym typeface="Nunito"/>
              </a:rPr>
              <a:t>Text data was cleaned using regex to remove unwanted characters and standardize formats.</a:t>
            </a:r>
          </a:p>
          <a:p>
            <a:pPr algn="just">
              <a:lnSpc>
                <a:spcPts val="4199"/>
              </a:lnSpc>
            </a:pPr>
            <a:endParaRPr lang="en-US" sz="2999">
              <a:solidFill>
                <a:srgbClr val="000000"/>
              </a:solidFill>
              <a:latin typeface="Nunito"/>
              <a:ea typeface="Nunito"/>
              <a:cs typeface="Nunito"/>
              <a:sym typeface="Nunito"/>
            </a:endParaRPr>
          </a:p>
          <a:p>
            <a:pPr marL="647698" lvl="1" indent="-323849" algn="just">
              <a:lnSpc>
                <a:spcPts val="4199"/>
              </a:lnSpc>
              <a:buFont typeface="Arial"/>
              <a:buChar char="•"/>
            </a:pPr>
            <a:r>
              <a:rPr lang="en-US" sz="2999">
                <a:solidFill>
                  <a:srgbClr val="000000"/>
                </a:solidFill>
                <a:latin typeface="Nunito"/>
                <a:ea typeface="Nunito"/>
                <a:cs typeface="Nunito"/>
                <a:sym typeface="Nunito"/>
              </a:rPr>
              <a:t>The dataset was scaled and normalized where required to prepare for machine learning models.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414075" y="361496"/>
            <a:ext cx="9459849" cy="2432050"/>
          </a:xfrm>
          <a:prstGeom prst="rect">
            <a:avLst/>
          </a:prstGeom>
        </p:spPr>
        <p:txBody>
          <a:bodyPr wrap="square" lIns="0" tIns="0" rIns="0" bIns="0" rtlCol="0" anchor="t">
            <a:spAutoFit/>
          </a:bodyPr>
          <a:lstStyle/>
          <a:p>
            <a:pPr algn="ctr">
              <a:lnSpc>
                <a:spcPts val="9799"/>
              </a:lnSpc>
            </a:pPr>
            <a:r>
              <a:rPr lang="en-US" sz="6999" b="1" dirty="0">
                <a:solidFill>
                  <a:srgbClr val="000000"/>
                </a:solidFill>
                <a:latin typeface="Proxima Nova Bold"/>
                <a:ea typeface="Proxima Nova Bold"/>
                <a:cs typeface="Proxima Nova Bold"/>
                <a:sym typeface="Proxima Nova Bold"/>
              </a:rPr>
              <a:t>SQL CONNECTIVITY &amp; </a:t>
            </a:r>
          </a:p>
          <a:p>
            <a:pPr algn="ctr">
              <a:lnSpc>
                <a:spcPts val="9799"/>
              </a:lnSpc>
            </a:pPr>
            <a:r>
              <a:rPr lang="en-US" sz="6999" b="1" dirty="0">
                <a:solidFill>
                  <a:srgbClr val="000000"/>
                </a:solidFill>
                <a:latin typeface="Proxima Nova Bold"/>
                <a:ea typeface="Proxima Nova Bold"/>
                <a:cs typeface="Proxima Nova Bold"/>
                <a:sym typeface="Proxima Nova Bold"/>
              </a:rPr>
              <a:t>DATA STORAGE</a:t>
            </a:r>
          </a:p>
        </p:txBody>
      </p:sp>
      <p:sp>
        <p:nvSpPr>
          <p:cNvPr id="5" name="TextBox 5"/>
          <p:cNvSpPr txBox="1"/>
          <p:nvPr/>
        </p:nvSpPr>
        <p:spPr>
          <a:xfrm>
            <a:off x="1289267" y="3524250"/>
            <a:ext cx="15639116" cy="5734050"/>
          </a:xfrm>
          <a:prstGeom prst="rect">
            <a:avLst/>
          </a:prstGeom>
        </p:spPr>
        <p:txBody>
          <a:bodyPr lIns="0" tIns="0" rIns="0" bIns="0" rtlCol="0" anchor="t">
            <a:spAutoFit/>
          </a:bodyPr>
          <a:lstStyle/>
          <a:p>
            <a:pPr marL="647698" lvl="1" indent="-323849" algn="just">
              <a:lnSpc>
                <a:spcPts val="4199"/>
              </a:lnSpc>
              <a:buFont typeface="Arial"/>
              <a:buChar char="•"/>
            </a:pPr>
            <a:r>
              <a:rPr lang="en-US" sz="2999">
                <a:solidFill>
                  <a:srgbClr val="000000"/>
                </a:solidFill>
                <a:latin typeface="Nunito"/>
                <a:ea typeface="Nunito"/>
                <a:cs typeface="Nunito"/>
                <a:sym typeface="Nunito"/>
              </a:rPr>
              <a:t>Cleaned and processed data was stored in a SQL database using MySQL Workbench.</a:t>
            </a:r>
          </a:p>
          <a:p>
            <a:pPr algn="just">
              <a:lnSpc>
                <a:spcPts val="4199"/>
              </a:lnSpc>
            </a:pPr>
            <a:endParaRPr lang="en-US" sz="2999">
              <a:solidFill>
                <a:srgbClr val="000000"/>
              </a:solidFill>
              <a:latin typeface="Nunito"/>
              <a:ea typeface="Nunito"/>
              <a:cs typeface="Nunito"/>
              <a:sym typeface="Nunito"/>
            </a:endParaRPr>
          </a:p>
          <a:p>
            <a:pPr marL="647698" lvl="1" indent="-323849" algn="just">
              <a:lnSpc>
                <a:spcPts val="4199"/>
              </a:lnSpc>
              <a:buFont typeface="Arial"/>
              <a:buChar char="•"/>
            </a:pPr>
            <a:r>
              <a:rPr lang="en-US" sz="2999">
                <a:solidFill>
                  <a:srgbClr val="000000"/>
                </a:solidFill>
                <a:latin typeface="Nunito"/>
                <a:ea typeface="Nunito"/>
                <a:cs typeface="Nunito"/>
                <a:sym typeface="Nunito"/>
              </a:rPr>
              <a:t>Python was connected to the SQL database using appropriate database connectors.</a:t>
            </a:r>
          </a:p>
          <a:p>
            <a:pPr algn="just">
              <a:lnSpc>
                <a:spcPts val="4199"/>
              </a:lnSpc>
            </a:pPr>
            <a:endParaRPr lang="en-US" sz="2999">
              <a:solidFill>
                <a:srgbClr val="000000"/>
              </a:solidFill>
              <a:latin typeface="Nunito"/>
              <a:ea typeface="Nunito"/>
              <a:cs typeface="Nunito"/>
              <a:sym typeface="Nunito"/>
            </a:endParaRPr>
          </a:p>
          <a:p>
            <a:pPr marL="647698" lvl="1" indent="-323849" algn="just">
              <a:lnSpc>
                <a:spcPts val="4199"/>
              </a:lnSpc>
              <a:buFont typeface="Arial"/>
              <a:buChar char="•"/>
            </a:pPr>
            <a:r>
              <a:rPr lang="en-US" sz="2999">
                <a:solidFill>
                  <a:srgbClr val="000000"/>
                </a:solidFill>
                <a:latin typeface="Nunito"/>
                <a:ea typeface="Nunito"/>
                <a:cs typeface="Nunito"/>
                <a:sym typeface="Nunito"/>
              </a:rPr>
              <a:t>Processed data was pushed into SQL tables for structured and secure storage.</a:t>
            </a:r>
          </a:p>
          <a:p>
            <a:pPr algn="just">
              <a:lnSpc>
                <a:spcPts val="4199"/>
              </a:lnSpc>
            </a:pPr>
            <a:endParaRPr lang="en-US" sz="2999">
              <a:solidFill>
                <a:srgbClr val="000000"/>
              </a:solidFill>
              <a:latin typeface="Nunito"/>
              <a:ea typeface="Nunito"/>
              <a:cs typeface="Nunito"/>
              <a:sym typeface="Nunito"/>
            </a:endParaRPr>
          </a:p>
          <a:p>
            <a:pPr marL="647698" lvl="1" indent="-323849" algn="just">
              <a:lnSpc>
                <a:spcPts val="4199"/>
              </a:lnSpc>
              <a:buFont typeface="Arial"/>
              <a:buChar char="•"/>
            </a:pPr>
            <a:r>
              <a:rPr lang="en-US" sz="2999">
                <a:solidFill>
                  <a:srgbClr val="000000"/>
                </a:solidFill>
                <a:latin typeface="Nunito"/>
                <a:ea typeface="Nunito"/>
                <a:cs typeface="Nunito"/>
                <a:sym typeface="Nunito"/>
              </a:rPr>
              <a:t>Required data was pulled from the SQL database into Python for analysis and model training.</a:t>
            </a:r>
          </a:p>
          <a:p>
            <a:pPr algn="just">
              <a:lnSpc>
                <a:spcPts val="4199"/>
              </a:lnSpc>
            </a:pPr>
            <a:endParaRPr lang="en-US" sz="2999">
              <a:solidFill>
                <a:srgbClr val="000000"/>
              </a:solidFill>
              <a:latin typeface="Nunito"/>
              <a:ea typeface="Nunito"/>
              <a:cs typeface="Nunito"/>
              <a:sym typeface="Nunito"/>
            </a:endParaRPr>
          </a:p>
          <a:p>
            <a:pPr marL="647698" lvl="1" indent="-323849" algn="just">
              <a:lnSpc>
                <a:spcPts val="4199"/>
              </a:lnSpc>
              <a:buFont typeface="Arial"/>
              <a:buChar char="•"/>
            </a:pPr>
            <a:r>
              <a:rPr lang="en-US" sz="2999">
                <a:solidFill>
                  <a:srgbClr val="000000"/>
                </a:solidFill>
                <a:latin typeface="Nunito"/>
                <a:ea typeface="Nunito"/>
                <a:cs typeface="Nunito"/>
                <a:sym typeface="Nunito"/>
              </a:rPr>
              <a:t>This integration enabled efficient data management, reusability, and scalability across the project pipeline.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399324" y="419100"/>
            <a:ext cx="13489351" cy="1142749"/>
          </a:xfrm>
          <a:prstGeom prst="rect">
            <a:avLst/>
          </a:prstGeom>
        </p:spPr>
        <p:txBody>
          <a:bodyPr wrap="square" lIns="0" tIns="0" rIns="0" bIns="0" rtlCol="0" anchor="t">
            <a:spAutoFit/>
          </a:bodyPr>
          <a:lstStyle/>
          <a:p>
            <a:pPr algn="l">
              <a:lnSpc>
                <a:spcPts val="9799"/>
              </a:lnSpc>
            </a:pPr>
            <a:r>
              <a:rPr lang="en-US" sz="6999" b="1" dirty="0">
                <a:solidFill>
                  <a:srgbClr val="000000"/>
                </a:solidFill>
                <a:latin typeface="Proxima Nova Bold"/>
                <a:ea typeface="Proxima Nova Bold"/>
                <a:cs typeface="Proxima Nova Bold"/>
                <a:sym typeface="Proxima Nova Bold"/>
              </a:rPr>
              <a:t>EXPLORATORY DATA ANALYSIS</a:t>
            </a:r>
          </a:p>
        </p:txBody>
      </p:sp>
      <p:sp>
        <p:nvSpPr>
          <p:cNvPr id="5" name="TextBox 5"/>
          <p:cNvSpPr txBox="1"/>
          <p:nvPr/>
        </p:nvSpPr>
        <p:spPr>
          <a:xfrm>
            <a:off x="1463215" y="2476500"/>
            <a:ext cx="15361570" cy="1019175"/>
          </a:xfrm>
          <a:prstGeom prst="rect">
            <a:avLst/>
          </a:prstGeom>
        </p:spPr>
        <p:txBody>
          <a:bodyPr lIns="0" tIns="0" rIns="0" bIns="0" rtlCol="0" anchor="t">
            <a:spAutoFit/>
          </a:bodyPr>
          <a:lstStyle/>
          <a:p>
            <a:pPr algn="just">
              <a:lnSpc>
                <a:spcPts val="4199"/>
              </a:lnSpc>
            </a:pPr>
            <a:r>
              <a:rPr lang="en-US" sz="2999" b="1">
                <a:solidFill>
                  <a:srgbClr val="000000"/>
                </a:solidFill>
                <a:latin typeface="Nunito Bold"/>
                <a:ea typeface="Nunito Bold"/>
                <a:cs typeface="Nunito Bold"/>
                <a:sym typeface="Nunito Bold"/>
              </a:rPr>
              <a:t>Outlier Detection : </a:t>
            </a:r>
            <a:r>
              <a:rPr lang="en-US" sz="2999">
                <a:solidFill>
                  <a:srgbClr val="000000"/>
                </a:solidFill>
                <a:latin typeface="Nunito"/>
                <a:ea typeface="Nunito"/>
                <a:cs typeface="Nunito"/>
                <a:sym typeface="Nunito"/>
              </a:rPr>
              <a:t>Premium models identified as high-value outliers. So no removal needed as they represent niche market segments.</a:t>
            </a:r>
          </a:p>
        </p:txBody>
      </p:sp>
      <p:sp>
        <p:nvSpPr>
          <p:cNvPr id="6" name="TextBox 6"/>
          <p:cNvSpPr txBox="1"/>
          <p:nvPr/>
        </p:nvSpPr>
        <p:spPr>
          <a:xfrm>
            <a:off x="5124898" y="3814082"/>
            <a:ext cx="8038205" cy="6257925"/>
          </a:xfrm>
          <a:prstGeom prst="rect">
            <a:avLst/>
          </a:prstGeom>
        </p:spPr>
        <p:txBody>
          <a:bodyPr lIns="0" tIns="0" rIns="0" bIns="0" rtlCol="0" anchor="t">
            <a:spAutoFit/>
          </a:bodyPr>
          <a:lstStyle/>
          <a:p>
            <a:pPr algn="just">
              <a:lnSpc>
                <a:spcPts val="4199"/>
              </a:lnSpc>
            </a:pPr>
            <a:r>
              <a:rPr lang="en-US" sz="2999" b="1">
                <a:solidFill>
                  <a:srgbClr val="000000"/>
                </a:solidFill>
                <a:latin typeface="Nunito Bold"/>
                <a:ea typeface="Nunito Bold"/>
                <a:cs typeface="Nunito Bold"/>
                <a:sym typeface="Nunito Bold"/>
              </a:rPr>
              <a:t>Visualizations Used:</a:t>
            </a:r>
          </a:p>
          <a:p>
            <a:pPr algn="just">
              <a:lnSpc>
                <a:spcPts val="4199"/>
              </a:lnSpc>
            </a:pPr>
            <a:endParaRPr lang="en-US" sz="2999" b="1">
              <a:solidFill>
                <a:srgbClr val="000000"/>
              </a:solidFill>
              <a:latin typeface="Nunito Bold"/>
              <a:ea typeface="Nunito Bold"/>
              <a:cs typeface="Nunito Bold"/>
              <a:sym typeface="Nunito Bold"/>
            </a:endParaRPr>
          </a:p>
          <a:p>
            <a:pPr algn="just">
              <a:lnSpc>
                <a:spcPts val="4199"/>
              </a:lnSpc>
            </a:pPr>
            <a:r>
              <a:rPr lang="en-US" sz="2999" b="1">
                <a:solidFill>
                  <a:srgbClr val="000000"/>
                </a:solidFill>
                <a:latin typeface="Nunito Bold"/>
                <a:ea typeface="Nunito Bold"/>
                <a:cs typeface="Nunito Bold"/>
                <a:sym typeface="Nunito Bold"/>
              </a:rPr>
              <a:t>Univariate Analysis : </a:t>
            </a:r>
          </a:p>
          <a:p>
            <a:pPr algn="just">
              <a:lnSpc>
                <a:spcPts val="4199"/>
              </a:lnSpc>
            </a:pPr>
            <a:r>
              <a:rPr lang="en-US" sz="2999">
                <a:solidFill>
                  <a:srgbClr val="000000"/>
                </a:solidFill>
                <a:latin typeface="Nunito"/>
                <a:ea typeface="Nunito"/>
                <a:cs typeface="Nunito"/>
                <a:sym typeface="Nunito"/>
              </a:rPr>
              <a:t>Price Distribution - Histplot</a:t>
            </a:r>
          </a:p>
          <a:p>
            <a:pPr algn="just">
              <a:lnSpc>
                <a:spcPts val="4199"/>
              </a:lnSpc>
            </a:pPr>
            <a:r>
              <a:rPr lang="en-US" sz="2999">
                <a:solidFill>
                  <a:srgbClr val="000000"/>
                </a:solidFill>
                <a:latin typeface="Nunito"/>
                <a:ea typeface="Nunito"/>
                <a:cs typeface="Nunito"/>
                <a:sym typeface="Nunito"/>
              </a:rPr>
              <a:t>Distribution of Load Types - Countplot</a:t>
            </a:r>
          </a:p>
          <a:p>
            <a:pPr algn="just">
              <a:lnSpc>
                <a:spcPts val="4199"/>
              </a:lnSpc>
            </a:pPr>
            <a:endParaRPr lang="en-US" sz="2999">
              <a:solidFill>
                <a:srgbClr val="000000"/>
              </a:solidFill>
              <a:latin typeface="Nunito"/>
              <a:ea typeface="Nunito"/>
              <a:cs typeface="Nunito"/>
              <a:sym typeface="Nunito"/>
            </a:endParaRPr>
          </a:p>
          <a:p>
            <a:pPr algn="just">
              <a:lnSpc>
                <a:spcPts val="4199"/>
              </a:lnSpc>
            </a:pPr>
            <a:r>
              <a:rPr lang="en-US" sz="2999" b="1">
                <a:solidFill>
                  <a:srgbClr val="000000"/>
                </a:solidFill>
                <a:latin typeface="Nunito Bold"/>
                <a:ea typeface="Nunito Bold"/>
                <a:cs typeface="Nunito Bold"/>
                <a:sym typeface="Nunito Bold"/>
              </a:rPr>
              <a:t>Bivariate Analysis :</a:t>
            </a:r>
          </a:p>
          <a:p>
            <a:pPr algn="just">
              <a:lnSpc>
                <a:spcPts val="4199"/>
              </a:lnSpc>
            </a:pPr>
            <a:r>
              <a:rPr lang="en-US" sz="2999">
                <a:solidFill>
                  <a:srgbClr val="000000"/>
                </a:solidFill>
                <a:latin typeface="Nunito"/>
                <a:ea typeface="Nunito"/>
                <a:cs typeface="Nunito"/>
                <a:sym typeface="Nunito"/>
              </a:rPr>
              <a:t>Rating vs Price Analysis - Scatterplot</a:t>
            </a:r>
          </a:p>
          <a:p>
            <a:pPr algn="just">
              <a:lnSpc>
                <a:spcPts val="4199"/>
              </a:lnSpc>
            </a:pPr>
            <a:r>
              <a:rPr lang="en-US" sz="2999">
                <a:solidFill>
                  <a:srgbClr val="000000"/>
                </a:solidFill>
                <a:latin typeface="Nunito"/>
                <a:ea typeface="Nunito"/>
                <a:cs typeface="Nunito"/>
                <a:sym typeface="Nunito"/>
              </a:rPr>
              <a:t>Price by Machine Type - Boxplot</a:t>
            </a:r>
          </a:p>
          <a:p>
            <a:pPr algn="just">
              <a:lnSpc>
                <a:spcPts val="4199"/>
              </a:lnSpc>
            </a:pPr>
            <a:endParaRPr lang="en-US" sz="2999">
              <a:solidFill>
                <a:srgbClr val="000000"/>
              </a:solidFill>
              <a:latin typeface="Nunito"/>
              <a:ea typeface="Nunito"/>
              <a:cs typeface="Nunito"/>
              <a:sym typeface="Nunito"/>
            </a:endParaRPr>
          </a:p>
          <a:p>
            <a:pPr algn="just">
              <a:lnSpc>
                <a:spcPts val="4199"/>
              </a:lnSpc>
            </a:pPr>
            <a:r>
              <a:rPr lang="en-US" sz="2999" b="1">
                <a:solidFill>
                  <a:srgbClr val="000000"/>
                </a:solidFill>
                <a:latin typeface="Nunito Bold"/>
                <a:ea typeface="Nunito Bold"/>
                <a:cs typeface="Nunito Bold"/>
                <a:sym typeface="Nunito Bold"/>
              </a:rPr>
              <a:t>Multivariate Analysis :</a:t>
            </a:r>
          </a:p>
          <a:p>
            <a:pPr algn="just">
              <a:lnSpc>
                <a:spcPts val="4199"/>
              </a:lnSpc>
            </a:pPr>
            <a:r>
              <a:rPr lang="en-US" sz="2999">
                <a:solidFill>
                  <a:srgbClr val="000000"/>
                </a:solidFill>
                <a:latin typeface="Nunito"/>
                <a:ea typeface="Nunito"/>
                <a:cs typeface="Nunito"/>
                <a:sym typeface="Nunito"/>
              </a:rPr>
              <a:t>Correlation Heatmap for all numerical features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2416212" y="114300"/>
            <a:ext cx="13455576" cy="2105111"/>
          </a:xfrm>
          <a:prstGeom prst="rect">
            <a:avLst/>
          </a:prstGeom>
        </p:spPr>
        <p:txBody>
          <a:bodyPr lIns="0" tIns="0" rIns="0" bIns="0" rtlCol="0" anchor="t">
            <a:spAutoFit/>
          </a:bodyPr>
          <a:lstStyle/>
          <a:p>
            <a:pPr algn="ctr">
              <a:lnSpc>
                <a:spcPts val="8400"/>
              </a:lnSpc>
            </a:pPr>
            <a:r>
              <a:rPr lang="en-US" sz="6000" b="1" dirty="0">
                <a:solidFill>
                  <a:srgbClr val="000000"/>
                </a:solidFill>
                <a:latin typeface="Proxima Nova Bold"/>
                <a:ea typeface="Proxima Nova Bold"/>
                <a:cs typeface="Proxima Nova Bold"/>
                <a:sym typeface="Proxima Nova Bold"/>
              </a:rPr>
              <a:t>UNSUPERVISED MACHINE LEARNING</a:t>
            </a:r>
          </a:p>
          <a:p>
            <a:pPr algn="ctr">
              <a:lnSpc>
                <a:spcPts val="8400"/>
              </a:lnSpc>
            </a:pPr>
            <a:r>
              <a:rPr lang="en-US" sz="6000" b="1" dirty="0">
                <a:solidFill>
                  <a:srgbClr val="000000"/>
                </a:solidFill>
                <a:latin typeface="Proxima Nova Bold"/>
                <a:ea typeface="Proxima Nova Bold"/>
                <a:cs typeface="Proxima Nova Bold"/>
                <a:sym typeface="Proxima Nova Bold"/>
              </a:rPr>
              <a:t>K-MEANS CLUSTERING</a:t>
            </a:r>
          </a:p>
        </p:txBody>
      </p:sp>
      <p:sp>
        <p:nvSpPr>
          <p:cNvPr id="5" name="TextBox 5"/>
          <p:cNvSpPr txBox="1"/>
          <p:nvPr/>
        </p:nvSpPr>
        <p:spPr>
          <a:xfrm>
            <a:off x="1937249" y="2468789"/>
            <a:ext cx="14413503" cy="7416174"/>
          </a:xfrm>
          <a:prstGeom prst="rect">
            <a:avLst/>
          </a:prstGeom>
        </p:spPr>
        <p:txBody>
          <a:bodyPr lIns="0" tIns="0" rIns="0" bIns="0" rtlCol="0" anchor="t">
            <a:spAutoFit/>
          </a:bodyPr>
          <a:lstStyle/>
          <a:p>
            <a:pPr algn="l">
              <a:lnSpc>
                <a:spcPts val="3919"/>
              </a:lnSpc>
            </a:pPr>
            <a:r>
              <a:rPr lang="en-US" sz="2799" b="1">
                <a:solidFill>
                  <a:srgbClr val="000000"/>
                </a:solidFill>
                <a:latin typeface="Nunito Bold"/>
                <a:ea typeface="Nunito Bold"/>
                <a:cs typeface="Nunito Bold"/>
                <a:sym typeface="Nunito Bold"/>
              </a:rPr>
              <a:t>Objective :</a:t>
            </a:r>
          </a:p>
          <a:p>
            <a:pPr marL="604519" lvl="1" indent="-302260" algn="l">
              <a:lnSpc>
                <a:spcPts val="3919"/>
              </a:lnSpc>
              <a:buFont typeface="Arial"/>
              <a:buChar char="•"/>
            </a:pPr>
            <a:r>
              <a:rPr lang="en-US" sz="2799">
                <a:solidFill>
                  <a:srgbClr val="000000"/>
                </a:solidFill>
                <a:latin typeface="Nunito"/>
                <a:ea typeface="Nunito"/>
                <a:cs typeface="Nunito"/>
                <a:sym typeface="Nunito"/>
              </a:rPr>
              <a:t>To identify natural groupings of washing machines based on their key features without pre-defined labels.</a:t>
            </a:r>
          </a:p>
          <a:p>
            <a:pPr algn="l">
              <a:lnSpc>
                <a:spcPts val="3919"/>
              </a:lnSpc>
            </a:pPr>
            <a:r>
              <a:rPr lang="en-US" sz="2799" b="1">
                <a:solidFill>
                  <a:srgbClr val="000000"/>
                </a:solidFill>
                <a:latin typeface="Nunito Bold"/>
                <a:ea typeface="Nunito Bold"/>
                <a:cs typeface="Nunito Bold"/>
                <a:sym typeface="Nunito Bold"/>
              </a:rPr>
              <a:t>Approach :</a:t>
            </a:r>
          </a:p>
          <a:p>
            <a:pPr marL="604519" lvl="1" indent="-302260" algn="l">
              <a:lnSpc>
                <a:spcPts val="3919"/>
              </a:lnSpc>
              <a:buFont typeface="Arial"/>
              <a:buChar char="•"/>
            </a:pPr>
            <a:r>
              <a:rPr lang="en-US" sz="2799">
                <a:solidFill>
                  <a:srgbClr val="000000"/>
                </a:solidFill>
                <a:latin typeface="Nunito"/>
                <a:ea typeface="Nunito"/>
                <a:cs typeface="Nunito"/>
                <a:sym typeface="Nunito"/>
              </a:rPr>
              <a:t>Selected relevant numeric features such as Price, Capacity, and RPM.</a:t>
            </a:r>
          </a:p>
          <a:p>
            <a:pPr marL="604519" lvl="1" indent="-302260" algn="l">
              <a:lnSpc>
                <a:spcPts val="3919"/>
              </a:lnSpc>
              <a:buFont typeface="Arial"/>
              <a:buChar char="•"/>
            </a:pPr>
            <a:r>
              <a:rPr lang="en-US" sz="2799">
                <a:solidFill>
                  <a:srgbClr val="000000"/>
                </a:solidFill>
                <a:latin typeface="Nunito"/>
                <a:ea typeface="Nunito"/>
                <a:cs typeface="Nunito"/>
                <a:sym typeface="Nunito"/>
              </a:rPr>
              <a:t>Standardized data to ensure all features contribute equally.</a:t>
            </a:r>
          </a:p>
          <a:p>
            <a:pPr marL="604519" lvl="1" indent="-302260" algn="l">
              <a:lnSpc>
                <a:spcPts val="3919"/>
              </a:lnSpc>
              <a:buFont typeface="Arial"/>
              <a:buChar char="•"/>
            </a:pPr>
            <a:r>
              <a:rPr lang="en-US" sz="2799">
                <a:solidFill>
                  <a:srgbClr val="000000"/>
                </a:solidFill>
                <a:latin typeface="Nunito"/>
                <a:ea typeface="Nunito"/>
                <a:cs typeface="Nunito"/>
                <a:sym typeface="Nunito"/>
              </a:rPr>
              <a:t>Applied K-Means Clustering to group similar washing machines.</a:t>
            </a:r>
          </a:p>
          <a:p>
            <a:pPr marL="604519" lvl="1" indent="-302260" algn="l">
              <a:lnSpc>
                <a:spcPts val="3919"/>
              </a:lnSpc>
              <a:buFont typeface="Arial"/>
              <a:buChar char="•"/>
            </a:pPr>
            <a:r>
              <a:rPr lang="en-US" sz="2799">
                <a:solidFill>
                  <a:srgbClr val="000000"/>
                </a:solidFill>
                <a:latin typeface="Nunito"/>
                <a:ea typeface="Nunito"/>
                <a:cs typeface="Nunito"/>
                <a:sym typeface="Nunito"/>
              </a:rPr>
              <a:t>Determined the optimal number of clusters using Elbow Method and Silhouette Score.</a:t>
            </a:r>
          </a:p>
          <a:p>
            <a:pPr algn="l">
              <a:lnSpc>
                <a:spcPts val="3919"/>
              </a:lnSpc>
            </a:pPr>
            <a:r>
              <a:rPr lang="en-US" sz="2799" b="1">
                <a:solidFill>
                  <a:srgbClr val="000000"/>
                </a:solidFill>
                <a:latin typeface="Nunito Bold"/>
                <a:ea typeface="Nunito Bold"/>
                <a:cs typeface="Nunito Bold"/>
                <a:sym typeface="Nunito Bold"/>
              </a:rPr>
              <a:t>Results :</a:t>
            </a:r>
          </a:p>
          <a:p>
            <a:pPr marL="604519" lvl="1" indent="-302260" algn="l">
              <a:lnSpc>
                <a:spcPts val="3919"/>
              </a:lnSpc>
              <a:buFont typeface="Arial"/>
              <a:buChar char="•"/>
            </a:pPr>
            <a:r>
              <a:rPr lang="en-US" sz="2799">
                <a:solidFill>
                  <a:srgbClr val="000000"/>
                </a:solidFill>
                <a:latin typeface="Nunito"/>
                <a:ea typeface="Nunito"/>
                <a:cs typeface="Nunito"/>
                <a:sym typeface="Nunito"/>
              </a:rPr>
              <a:t>Cluster 1 – Economy: Affordable machines with basic functionality.</a:t>
            </a:r>
          </a:p>
          <a:p>
            <a:pPr marL="604519" lvl="1" indent="-302260" algn="l">
              <a:lnSpc>
                <a:spcPts val="3919"/>
              </a:lnSpc>
              <a:buFont typeface="Arial"/>
              <a:buChar char="•"/>
            </a:pPr>
            <a:r>
              <a:rPr lang="en-US" sz="2799">
                <a:solidFill>
                  <a:srgbClr val="000000"/>
                </a:solidFill>
                <a:latin typeface="Nunito"/>
                <a:ea typeface="Nunito"/>
                <a:cs typeface="Nunito"/>
                <a:sym typeface="Nunito"/>
              </a:rPr>
              <a:t>Cluster 2 – Standard: Mid-range machines with balanced features.</a:t>
            </a:r>
          </a:p>
          <a:p>
            <a:pPr marL="604519" lvl="1" indent="-302260" algn="l">
              <a:lnSpc>
                <a:spcPts val="3919"/>
              </a:lnSpc>
              <a:buFont typeface="Arial"/>
              <a:buChar char="•"/>
            </a:pPr>
            <a:r>
              <a:rPr lang="en-US" sz="2799">
                <a:solidFill>
                  <a:srgbClr val="000000"/>
                </a:solidFill>
                <a:latin typeface="Nunito"/>
                <a:ea typeface="Nunito"/>
                <a:cs typeface="Nunito"/>
                <a:sym typeface="Nunito"/>
              </a:rPr>
              <a:t>Cluster 3 – Premium: High-end machines with advanced features targeting niche buyers.</a:t>
            </a:r>
          </a:p>
          <a:p>
            <a:pPr algn="l">
              <a:lnSpc>
                <a:spcPts val="3919"/>
              </a:lnSpc>
            </a:pPr>
            <a:r>
              <a:rPr lang="en-US" sz="2799" b="1">
                <a:solidFill>
                  <a:srgbClr val="000000"/>
                </a:solidFill>
                <a:latin typeface="Nunito Bold"/>
                <a:ea typeface="Nunito Bold"/>
                <a:cs typeface="Nunito Bold"/>
                <a:sym typeface="Nunito Bold"/>
              </a:rPr>
              <a:t>Visualization :</a:t>
            </a:r>
          </a:p>
          <a:p>
            <a:pPr marL="604519" lvl="1" indent="-302260" algn="l">
              <a:lnSpc>
                <a:spcPts val="3919"/>
              </a:lnSpc>
              <a:buFont typeface="Arial"/>
              <a:buChar char="•"/>
            </a:pPr>
            <a:r>
              <a:rPr lang="en-US" sz="2799">
                <a:solidFill>
                  <a:srgbClr val="000000"/>
                </a:solidFill>
                <a:latin typeface="Nunito"/>
                <a:ea typeface="Nunito"/>
                <a:cs typeface="Nunito"/>
                <a:sym typeface="Nunito"/>
              </a:rPr>
              <a:t>Color-coded cluster chart for easy comparison of machine groups.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3032824" y="571500"/>
            <a:ext cx="12222352" cy="1038268"/>
          </a:xfrm>
          <a:prstGeom prst="rect">
            <a:avLst/>
          </a:prstGeom>
        </p:spPr>
        <p:txBody>
          <a:bodyPr lIns="0" tIns="0" rIns="0" bIns="0" rtlCol="0" anchor="t">
            <a:spAutoFit/>
          </a:bodyPr>
          <a:lstStyle/>
          <a:p>
            <a:pPr algn="l">
              <a:lnSpc>
                <a:spcPts val="8400"/>
              </a:lnSpc>
            </a:pPr>
            <a:r>
              <a:rPr lang="en-US" sz="6000" b="1" dirty="0">
                <a:solidFill>
                  <a:srgbClr val="000000"/>
                </a:solidFill>
                <a:latin typeface="Proxima Nova Bold"/>
                <a:ea typeface="Proxima Nova Bold"/>
                <a:cs typeface="Proxima Nova Bold"/>
                <a:sym typeface="Proxima Nova Bold"/>
              </a:rPr>
              <a:t>SUPERVISED MACHINE LEARNING </a:t>
            </a:r>
          </a:p>
        </p:txBody>
      </p:sp>
      <p:sp>
        <p:nvSpPr>
          <p:cNvPr id="5" name="TextBox 5"/>
          <p:cNvSpPr txBox="1"/>
          <p:nvPr/>
        </p:nvSpPr>
        <p:spPr>
          <a:xfrm>
            <a:off x="1970686" y="2337469"/>
            <a:ext cx="14346628" cy="6920831"/>
          </a:xfrm>
          <a:prstGeom prst="rect">
            <a:avLst/>
          </a:prstGeom>
        </p:spPr>
        <p:txBody>
          <a:bodyPr lIns="0" tIns="0" rIns="0" bIns="0" rtlCol="0" anchor="t">
            <a:spAutoFit/>
          </a:bodyPr>
          <a:lstStyle/>
          <a:p>
            <a:pPr algn="l">
              <a:lnSpc>
                <a:spcPts val="3919"/>
              </a:lnSpc>
            </a:pPr>
            <a:r>
              <a:rPr lang="en-US" sz="2799" b="1">
                <a:solidFill>
                  <a:srgbClr val="000000"/>
                </a:solidFill>
                <a:latin typeface="Nunito Bold"/>
                <a:ea typeface="Nunito Bold"/>
                <a:cs typeface="Nunito Bold"/>
                <a:sym typeface="Nunito Bold"/>
              </a:rPr>
              <a:t>Objective :</a:t>
            </a:r>
          </a:p>
          <a:p>
            <a:pPr marL="604519" lvl="1" indent="-302260" algn="l">
              <a:lnSpc>
                <a:spcPts val="3919"/>
              </a:lnSpc>
              <a:buFont typeface="Arial"/>
              <a:buChar char="•"/>
            </a:pPr>
            <a:r>
              <a:rPr lang="en-US" sz="2799">
                <a:solidFill>
                  <a:srgbClr val="000000"/>
                </a:solidFill>
                <a:latin typeface="Nunito"/>
                <a:ea typeface="Nunito"/>
                <a:cs typeface="Nunito"/>
                <a:sym typeface="Nunito"/>
              </a:rPr>
              <a:t>Predict the cluster (Economy, Standard, Premium) for a washing machine based on its features.</a:t>
            </a:r>
          </a:p>
          <a:p>
            <a:pPr algn="l">
              <a:lnSpc>
                <a:spcPts val="3919"/>
              </a:lnSpc>
            </a:pPr>
            <a:r>
              <a:rPr lang="en-US" sz="2799" b="1">
                <a:solidFill>
                  <a:srgbClr val="000000"/>
                </a:solidFill>
                <a:latin typeface="Nunito Bold"/>
                <a:ea typeface="Nunito Bold"/>
                <a:cs typeface="Nunito Bold"/>
                <a:sym typeface="Nunito Bold"/>
              </a:rPr>
              <a:t>Approach :</a:t>
            </a:r>
          </a:p>
          <a:p>
            <a:pPr marL="604519" lvl="1" indent="-302260" algn="l">
              <a:lnSpc>
                <a:spcPts val="3919"/>
              </a:lnSpc>
              <a:buFont typeface="Arial"/>
              <a:buChar char="•"/>
            </a:pPr>
            <a:r>
              <a:rPr lang="en-US" sz="2799">
                <a:solidFill>
                  <a:srgbClr val="000000"/>
                </a:solidFill>
                <a:latin typeface="Nunito"/>
                <a:ea typeface="Nunito"/>
                <a:cs typeface="Nunito"/>
                <a:sym typeface="Nunito"/>
              </a:rPr>
              <a:t>Used K-Means cluster labels as target labels.</a:t>
            </a:r>
          </a:p>
          <a:p>
            <a:pPr marL="604519" lvl="1" indent="-302260" algn="l">
              <a:lnSpc>
                <a:spcPts val="3919"/>
              </a:lnSpc>
              <a:buFont typeface="Arial"/>
              <a:buChar char="•"/>
            </a:pPr>
            <a:r>
              <a:rPr lang="en-US" sz="2799">
                <a:solidFill>
                  <a:srgbClr val="000000"/>
                </a:solidFill>
                <a:latin typeface="Nunito"/>
                <a:ea typeface="Nunito"/>
                <a:cs typeface="Nunito"/>
                <a:sym typeface="Nunito"/>
              </a:rPr>
              <a:t>Features: Price, Capacity, RPM, Load Type, etc.</a:t>
            </a:r>
          </a:p>
          <a:p>
            <a:pPr marL="604519" lvl="1" indent="-302260" algn="l">
              <a:lnSpc>
                <a:spcPts val="3919"/>
              </a:lnSpc>
              <a:buFont typeface="Arial"/>
              <a:buChar char="•"/>
            </a:pPr>
            <a:r>
              <a:rPr lang="en-US" sz="2799">
                <a:solidFill>
                  <a:srgbClr val="000000"/>
                </a:solidFill>
                <a:latin typeface="Nunito"/>
                <a:ea typeface="Nunito"/>
                <a:cs typeface="Nunito"/>
                <a:sym typeface="Nunito"/>
              </a:rPr>
              <a:t>Applied Logistic Regression, KNN, SVM, Random Forest, and XGBoost.</a:t>
            </a:r>
          </a:p>
          <a:p>
            <a:pPr marL="604519" lvl="1" indent="-302260" algn="l">
              <a:lnSpc>
                <a:spcPts val="3919"/>
              </a:lnSpc>
              <a:buFont typeface="Arial"/>
              <a:buChar char="•"/>
            </a:pPr>
            <a:r>
              <a:rPr lang="en-US" sz="2799">
                <a:solidFill>
                  <a:srgbClr val="000000"/>
                </a:solidFill>
                <a:latin typeface="Nunito"/>
                <a:ea typeface="Nunito"/>
                <a:cs typeface="Nunito"/>
                <a:sym typeface="Nunito"/>
              </a:rPr>
              <a:t>Performed hyperparameter tuning to optimize performance.</a:t>
            </a:r>
          </a:p>
          <a:p>
            <a:pPr algn="l">
              <a:lnSpc>
                <a:spcPts val="3919"/>
              </a:lnSpc>
            </a:pPr>
            <a:r>
              <a:rPr lang="en-US" sz="2799" b="1">
                <a:solidFill>
                  <a:srgbClr val="000000"/>
                </a:solidFill>
                <a:latin typeface="Nunito Bold"/>
                <a:ea typeface="Nunito Bold"/>
                <a:cs typeface="Nunito Bold"/>
                <a:sym typeface="Nunito Bold"/>
              </a:rPr>
              <a:t>Results :</a:t>
            </a:r>
          </a:p>
          <a:p>
            <a:pPr marL="604519" lvl="1" indent="-302260" algn="l">
              <a:lnSpc>
                <a:spcPts val="3919"/>
              </a:lnSpc>
              <a:buFont typeface="Arial"/>
              <a:buChar char="•"/>
            </a:pPr>
            <a:r>
              <a:rPr lang="en-US" sz="2799">
                <a:solidFill>
                  <a:srgbClr val="000000"/>
                </a:solidFill>
                <a:latin typeface="Nunito"/>
                <a:ea typeface="Nunito"/>
                <a:cs typeface="Nunito"/>
                <a:sym typeface="Nunito"/>
              </a:rPr>
              <a:t>High accuracy achieved across models.</a:t>
            </a:r>
          </a:p>
          <a:p>
            <a:pPr marL="604519" lvl="1" indent="-302260" algn="l">
              <a:lnSpc>
                <a:spcPts val="3919"/>
              </a:lnSpc>
              <a:buFont typeface="Arial"/>
              <a:buChar char="•"/>
            </a:pPr>
            <a:r>
              <a:rPr lang="en-US" sz="2799">
                <a:solidFill>
                  <a:srgbClr val="000000"/>
                </a:solidFill>
                <a:latin typeface="Nunito"/>
                <a:ea typeface="Nunito"/>
                <a:cs typeface="Nunito"/>
                <a:sym typeface="Nunito"/>
              </a:rPr>
              <a:t>Best-performing model selected for deployment.</a:t>
            </a:r>
          </a:p>
          <a:p>
            <a:pPr marL="604519" lvl="1" indent="-302260" algn="l">
              <a:lnSpc>
                <a:spcPts val="3919"/>
              </a:lnSpc>
              <a:buFont typeface="Arial"/>
              <a:buChar char="•"/>
            </a:pPr>
            <a:r>
              <a:rPr lang="en-US" sz="2799">
                <a:solidFill>
                  <a:srgbClr val="000000"/>
                </a:solidFill>
                <a:latin typeface="Nunito"/>
                <a:ea typeface="Nunito"/>
                <a:cs typeface="Nunito"/>
                <a:sym typeface="Nunito"/>
              </a:rPr>
              <a:t>Enables automatic prediction of cluster for new washing machines.</a:t>
            </a:r>
          </a:p>
          <a:p>
            <a:pPr algn="l">
              <a:lnSpc>
                <a:spcPts val="3919"/>
              </a:lnSpc>
            </a:pPr>
            <a:r>
              <a:rPr lang="en-US" sz="2799" b="1">
                <a:solidFill>
                  <a:srgbClr val="000000"/>
                </a:solidFill>
                <a:latin typeface="Nunito Bold"/>
                <a:ea typeface="Nunito Bold"/>
                <a:cs typeface="Nunito Bold"/>
                <a:sym typeface="Nunito Bold"/>
              </a:rPr>
              <a:t>Visualization :</a:t>
            </a:r>
          </a:p>
          <a:p>
            <a:pPr marL="604519" lvl="1" indent="-302260" algn="l">
              <a:lnSpc>
                <a:spcPts val="3919"/>
              </a:lnSpc>
              <a:buFont typeface="Arial"/>
              <a:buChar char="•"/>
            </a:pPr>
            <a:r>
              <a:rPr lang="en-US" sz="2799">
                <a:solidFill>
                  <a:srgbClr val="000000"/>
                </a:solidFill>
                <a:latin typeface="Nunito"/>
                <a:ea typeface="Nunito"/>
                <a:cs typeface="Nunito"/>
                <a:sym typeface="Nunito"/>
              </a:rPr>
              <a:t>Accuracy comparison chart or confusion matrix for model performance.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099046" y="308686"/>
            <a:ext cx="10089905" cy="979499"/>
          </a:xfrm>
          <a:prstGeom prst="rect">
            <a:avLst/>
          </a:prstGeom>
        </p:spPr>
        <p:txBody>
          <a:bodyPr wrap="square" lIns="0" tIns="0" rIns="0" bIns="0" rtlCol="0" anchor="t">
            <a:spAutoFit/>
          </a:bodyPr>
          <a:lstStyle/>
          <a:p>
            <a:pPr algn="l">
              <a:lnSpc>
                <a:spcPts val="8400"/>
              </a:lnSpc>
            </a:pPr>
            <a:r>
              <a:rPr lang="en-US" sz="6000" b="1" dirty="0">
                <a:solidFill>
                  <a:srgbClr val="000000"/>
                </a:solidFill>
                <a:latin typeface="Proxima Nova Bold"/>
                <a:ea typeface="Proxima Nova Bold"/>
                <a:cs typeface="Proxima Nova Bold"/>
                <a:sym typeface="Proxima Nova Bold"/>
              </a:rPr>
              <a:t>HYPERPARAMETER TUNING</a:t>
            </a:r>
          </a:p>
        </p:txBody>
      </p:sp>
      <p:sp>
        <p:nvSpPr>
          <p:cNvPr id="5" name="TextBox 5"/>
          <p:cNvSpPr txBox="1"/>
          <p:nvPr/>
        </p:nvSpPr>
        <p:spPr>
          <a:xfrm>
            <a:off x="3700734" y="2040079"/>
            <a:ext cx="10886531" cy="7688893"/>
          </a:xfrm>
          <a:prstGeom prst="rect">
            <a:avLst/>
          </a:prstGeom>
        </p:spPr>
        <p:txBody>
          <a:bodyPr lIns="0" tIns="0" rIns="0" bIns="0" rtlCol="0" anchor="t">
            <a:spAutoFit/>
          </a:bodyPr>
          <a:lstStyle/>
          <a:p>
            <a:pPr algn="l">
              <a:lnSpc>
                <a:spcPts val="4059"/>
              </a:lnSpc>
            </a:pPr>
            <a:r>
              <a:rPr lang="en-US" sz="2899" b="1">
                <a:solidFill>
                  <a:srgbClr val="000000"/>
                </a:solidFill>
                <a:latin typeface="Nunito Bold"/>
                <a:ea typeface="Nunito Bold"/>
                <a:cs typeface="Nunito Bold"/>
                <a:sym typeface="Nunito Bold"/>
              </a:rPr>
              <a:t>Objective :</a:t>
            </a:r>
          </a:p>
          <a:p>
            <a:pPr marL="626109" lvl="1" indent="-313054" algn="l">
              <a:lnSpc>
                <a:spcPts val="4059"/>
              </a:lnSpc>
              <a:buFont typeface="Arial"/>
              <a:buChar char="•"/>
            </a:pPr>
            <a:r>
              <a:rPr lang="en-US" sz="2899">
                <a:solidFill>
                  <a:srgbClr val="000000"/>
                </a:solidFill>
                <a:latin typeface="Nunito"/>
                <a:ea typeface="Nunito"/>
                <a:cs typeface="Nunito"/>
                <a:sym typeface="Nunito"/>
              </a:rPr>
              <a:t>Improve model performance by optimizing model parameters.</a:t>
            </a:r>
          </a:p>
          <a:p>
            <a:pPr algn="l">
              <a:lnSpc>
                <a:spcPts val="4059"/>
              </a:lnSpc>
            </a:pPr>
            <a:r>
              <a:rPr lang="en-US" sz="2899" b="1">
                <a:solidFill>
                  <a:srgbClr val="000000"/>
                </a:solidFill>
                <a:latin typeface="Nunito Bold"/>
                <a:ea typeface="Nunito Bold"/>
                <a:cs typeface="Nunito Bold"/>
                <a:sym typeface="Nunito Bold"/>
              </a:rPr>
              <a:t>Approach :</a:t>
            </a:r>
          </a:p>
          <a:p>
            <a:pPr marL="626109" lvl="1" indent="-313054" algn="l">
              <a:lnSpc>
                <a:spcPts val="4059"/>
              </a:lnSpc>
              <a:buFont typeface="Arial"/>
              <a:buChar char="•"/>
            </a:pPr>
            <a:r>
              <a:rPr lang="en-US" sz="2899">
                <a:solidFill>
                  <a:srgbClr val="000000"/>
                </a:solidFill>
                <a:latin typeface="Nunito"/>
                <a:ea typeface="Nunito"/>
                <a:cs typeface="Nunito"/>
                <a:sym typeface="Nunito"/>
              </a:rPr>
              <a:t>Applied tuning techniques on supervised models.</a:t>
            </a:r>
          </a:p>
          <a:p>
            <a:pPr marL="626109" lvl="1" indent="-313054" algn="l">
              <a:lnSpc>
                <a:spcPts val="4059"/>
              </a:lnSpc>
              <a:buFont typeface="Arial"/>
              <a:buChar char="•"/>
            </a:pPr>
            <a:r>
              <a:rPr lang="en-US" sz="2899">
                <a:solidFill>
                  <a:srgbClr val="000000"/>
                </a:solidFill>
                <a:latin typeface="Nunito"/>
                <a:ea typeface="Nunito"/>
                <a:cs typeface="Nunito"/>
                <a:sym typeface="Nunito"/>
              </a:rPr>
              <a:t>Used GridSearchCV for parameter optimization.</a:t>
            </a:r>
          </a:p>
          <a:p>
            <a:pPr marL="626109" lvl="1" indent="-313054" algn="l">
              <a:lnSpc>
                <a:spcPts val="4059"/>
              </a:lnSpc>
              <a:buFont typeface="Arial"/>
              <a:buChar char="•"/>
            </a:pPr>
            <a:r>
              <a:rPr lang="en-US" sz="2899">
                <a:solidFill>
                  <a:srgbClr val="000000"/>
                </a:solidFill>
                <a:latin typeface="Nunito"/>
                <a:ea typeface="Nunito"/>
                <a:cs typeface="Nunito"/>
                <a:sym typeface="Nunito"/>
              </a:rPr>
              <a:t>Evaluated models using accuracy.</a:t>
            </a:r>
          </a:p>
          <a:p>
            <a:pPr algn="l">
              <a:lnSpc>
                <a:spcPts val="4059"/>
              </a:lnSpc>
            </a:pPr>
            <a:r>
              <a:rPr lang="en-US" sz="2899" b="1">
                <a:solidFill>
                  <a:srgbClr val="000000"/>
                </a:solidFill>
                <a:latin typeface="Nunito Bold"/>
                <a:ea typeface="Nunito Bold"/>
                <a:cs typeface="Nunito Bold"/>
                <a:sym typeface="Nunito Bold"/>
              </a:rPr>
              <a:t>Models Tuned :</a:t>
            </a:r>
          </a:p>
          <a:p>
            <a:pPr marL="626109" lvl="1" indent="-313054" algn="l">
              <a:lnSpc>
                <a:spcPts val="4059"/>
              </a:lnSpc>
              <a:buFont typeface="Arial"/>
              <a:buChar char="•"/>
            </a:pPr>
            <a:r>
              <a:rPr lang="en-US" sz="2899">
                <a:solidFill>
                  <a:srgbClr val="000000"/>
                </a:solidFill>
                <a:latin typeface="Nunito"/>
                <a:ea typeface="Nunito"/>
                <a:cs typeface="Nunito"/>
                <a:sym typeface="Nunito"/>
              </a:rPr>
              <a:t>Logistic Regression</a:t>
            </a:r>
          </a:p>
          <a:p>
            <a:pPr marL="626109" lvl="1" indent="-313054" algn="l">
              <a:lnSpc>
                <a:spcPts val="4059"/>
              </a:lnSpc>
              <a:buFont typeface="Arial"/>
              <a:buChar char="•"/>
            </a:pPr>
            <a:r>
              <a:rPr lang="en-US" sz="2899">
                <a:solidFill>
                  <a:srgbClr val="000000"/>
                </a:solidFill>
                <a:latin typeface="Nunito"/>
                <a:ea typeface="Nunito"/>
                <a:cs typeface="Nunito"/>
                <a:sym typeface="Nunito"/>
              </a:rPr>
              <a:t>K-Nearest Neighbors (KNN)</a:t>
            </a:r>
          </a:p>
          <a:p>
            <a:pPr marL="626109" lvl="1" indent="-313054" algn="l">
              <a:lnSpc>
                <a:spcPts val="4059"/>
              </a:lnSpc>
              <a:buFont typeface="Arial"/>
              <a:buChar char="•"/>
            </a:pPr>
            <a:r>
              <a:rPr lang="en-US" sz="2899">
                <a:solidFill>
                  <a:srgbClr val="000000"/>
                </a:solidFill>
                <a:latin typeface="Nunito"/>
                <a:ea typeface="Nunito"/>
                <a:cs typeface="Nunito"/>
                <a:sym typeface="Nunito"/>
              </a:rPr>
              <a:t>Support Vector Machine (SVM)</a:t>
            </a:r>
          </a:p>
          <a:p>
            <a:pPr marL="626109" lvl="1" indent="-313054" algn="l">
              <a:lnSpc>
                <a:spcPts val="4059"/>
              </a:lnSpc>
              <a:buFont typeface="Arial"/>
              <a:buChar char="•"/>
            </a:pPr>
            <a:r>
              <a:rPr lang="en-US" sz="2899">
                <a:solidFill>
                  <a:srgbClr val="000000"/>
                </a:solidFill>
                <a:latin typeface="Nunito"/>
                <a:ea typeface="Nunito"/>
                <a:cs typeface="Nunito"/>
                <a:sym typeface="Nunito"/>
              </a:rPr>
              <a:t>Random Forest</a:t>
            </a:r>
          </a:p>
          <a:p>
            <a:pPr marL="626109" lvl="1" indent="-313054" algn="l">
              <a:lnSpc>
                <a:spcPts val="4059"/>
              </a:lnSpc>
              <a:buFont typeface="Arial"/>
              <a:buChar char="•"/>
            </a:pPr>
            <a:r>
              <a:rPr lang="en-US" sz="2899">
                <a:solidFill>
                  <a:srgbClr val="000000"/>
                </a:solidFill>
                <a:latin typeface="Nunito"/>
                <a:ea typeface="Nunito"/>
                <a:cs typeface="Nunito"/>
                <a:sym typeface="Nunito"/>
              </a:rPr>
              <a:t>XGBoost</a:t>
            </a:r>
          </a:p>
          <a:p>
            <a:pPr algn="l">
              <a:lnSpc>
                <a:spcPts val="4059"/>
              </a:lnSpc>
            </a:pPr>
            <a:r>
              <a:rPr lang="en-US" sz="2899" b="1">
                <a:solidFill>
                  <a:srgbClr val="000000"/>
                </a:solidFill>
                <a:latin typeface="Nunito Bold"/>
                <a:ea typeface="Nunito Bold"/>
                <a:cs typeface="Nunito Bold"/>
                <a:sym typeface="Nunito Bold"/>
              </a:rPr>
              <a:t>Outcome :</a:t>
            </a:r>
          </a:p>
          <a:p>
            <a:pPr marL="626109" lvl="1" indent="-313054" algn="l">
              <a:lnSpc>
                <a:spcPts val="4059"/>
              </a:lnSpc>
              <a:buFont typeface="Arial"/>
              <a:buChar char="•"/>
            </a:pPr>
            <a:r>
              <a:rPr lang="en-US" sz="2899">
                <a:solidFill>
                  <a:srgbClr val="000000"/>
                </a:solidFill>
                <a:latin typeface="Nunito"/>
                <a:ea typeface="Nunito"/>
                <a:cs typeface="Nunito"/>
                <a:sym typeface="Nunito"/>
              </a:rPr>
              <a:t>Improved or stabilized model performance.</a:t>
            </a:r>
          </a:p>
          <a:p>
            <a:pPr marL="626109" lvl="1" indent="-313054" algn="l">
              <a:lnSpc>
                <a:spcPts val="4059"/>
              </a:lnSpc>
              <a:buFont typeface="Arial"/>
              <a:buChar char="•"/>
            </a:pPr>
            <a:r>
              <a:rPr lang="en-US" sz="2899">
                <a:solidFill>
                  <a:srgbClr val="000000"/>
                </a:solidFill>
                <a:latin typeface="Nunito"/>
                <a:ea typeface="Nunito"/>
                <a:cs typeface="Nunito"/>
                <a:sym typeface="Nunito"/>
              </a:rPr>
              <a:t>Selected the best-performing model for deployment.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5147165" y="279302"/>
            <a:ext cx="7993669" cy="1038268"/>
          </a:xfrm>
          <a:prstGeom prst="rect">
            <a:avLst/>
          </a:prstGeom>
        </p:spPr>
        <p:txBody>
          <a:bodyPr lIns="0" tIns="0" rIns="0" bIns="0" rtlCol="0" anchor="t">
            <a:spAutoFit/>
          </a:bodyPr>
          <a:lstStyle/>
          <a:p>
            <a:pPr algn="ctr">
              <a:lnSpc>
                <a:spcPts val="8400"/>
              </a:lnSpc>
            </a:pPr>
            <a:r>
              <a:rPr lang="en-US" sz="6000" b="1" dirty="0">
                <a:solidFill>
                  <a:srgbClr val="000000"/>
                </a:solidFill>
                <a:latin typeface="Proxima Nova Bold"/>
                <a:ea typeface="Proxima Nova Bold"/>
                <a:cs typeface="Proxima Nova Bold"/>
                <a:sym typeface="Proxima Nova Bold"/>
              </a:rPr>
              <a:t>MODEL DEPLOYMENT</a:t>
            </a:r>
          </a:p>
        </p:txBody>
      </p:sp>
      <p:sp>
        <p:nvSpPr>
          <p:cNvPr id="5" name="TextBox 5"/>
          <p:cNvSpPr txBox="1"/>
          <p:nvPr/>
        </p:nvSpPr>
        <p:spPr>
          <a:xfrm>
            <a:off x="1508624" y="1730634"/>
            <a:ext cx="15270753" cy="7911517"/>
          </a:xfrm>
          <a:prstGeom prst="rect">
            <a:avLst/>
          </a:prstGeom>
        </p:spPr>
        <p:txBody>
          <a:bodyPr lIns="0" tIns="0" rIns="0" bIns="0" rtlCol="0" anchor="t">
            <a:spAutoFit/>
          </a:bodyPr>
          <a:lstStyle/>
          <a:p>
            <a:pPr algn="l">
              <a:lnSpc>
                <a:spcPts val="3919"/>
              </a:lnSpc>
            </a:pPr>
            <a:r>
              <a:rPr lang="en-US" sz="2799" b="1">
                <a:solidFill>
                  <a:srgbClr val="000000"/>
                </a:solidFill>
                <a:latin typeface="Nunito Bold"/>
                <a:ea typeface="Nunito Bold"/>
                <a:cs typeface="Nunito Bold"/>
                <a:sym typeface="Nunito Bold"/>
              </a:rPr>
              <a:t>Objective :</a:t>
            </a:r>
          </a:p>
          <a:p>
            <a:pPr marL="604519" lvl="1" indent="-302260" algn="l">
              <a:lnSpc>
                <a:spcPts val="3919"/>
              </a:lnSpc>
              <a:buFont typeface="Arial"/>
              <a:buChar char="•"/>
            </a:pPr>
            <a:r>
              <a:rPr lang="en-US" sz="2799">
                <a:solidFill>
                  <a:srgbClr val="000000"/>
                </a:solidFill>
                <a:latin typeface="Nunito"/>
                <a:ea typeface="Nunito"/>
                <a:cs typeface="Nunito"/>
                <a:sym typeface="Nunito"/>
              </a:rPr>
              <a:t>Deploy the best-performing model to predict washing machine clusters in real time.</a:t>
            </a:r>
          </a:p>
          <a:p>
            <a:pPr algn="l">
              <a:lnSpc>
                <a:spcPts val="3919"/>
              </a:lnSpc>
            </a:pPr>
            <a:endParaRPr lang="en-US" sz="2799">
              <a:solidFill>
                <a:srgbClr val="000000"/>
              </a:solidFill>
              <a:latin typeface="Nunito"/>
              <a:ea typeface="Nunito"/>
              <a:cs typeface="Nunito"/>
              <a:sym typeface="Nunito"/>
            </a:endParaRPr>
          </a:p>
          <a:p>
            <a:pPr algn="l">
              <a:lnSpc>
                <a:spcPts val="3919"/>
              </a:lnSpc>
            </a:pPr>
            <a:r>
              <a:rPr lang="en-US" sz="2799" b="1">
                <a:solidFill>
                  <a:srgbClr val="000000"/>
                </a:solidFill>
                <a:latin typeface="Nunito Bold"/>
                <a:ea typeface="Nunito Bold"/>
                <a:cs typeface="Nunito Bold"/>
                <a:sym typeface="Nunito Bold"/>
              </a:rPr>
              <a:t>Approach :</a:t>
            </a:r>
          </a:p>
          <a:p>
            <a:pPr marL="604519" lvl="1" indent="-302260" algn="l">
              <a:lnSpc>
                <a:spcPts val="3919"/>
              </a:lnSpc>
              <a:buFont typeface="Arial"/>
              <a:buChar char="•"/>
            </a:pPr>
            <a:r>
              <a:rPr lang="en-US" sz="2799">
                <a:solidFill>
                  <a:srgbClr val="000000"/>
                </a:solidFill>
                <a:latin typeface="Nunito"/>
                <a:ea typeface="Nunito"/>
                <a:cs typeface="Nunito"/>
                <a:sym typeface="Nunito"/>
              </a:rPr>
              <a:t>Selected the best model based on accuracy and stability.</a:t>
            </a:r>
          </a:p>
          <a:p>
            <a:pPr marL="604519" lvl="1" indent="-302260" algn="l">
              <a:lnSpc>
                <a:spcPts val="3919"/>
              </a:lnSpc>
              <a:buFont typeface="Arial"/>
              <a:buChar char="•"/>
            </a:pPr>
            <a:r>
              <a:rPr lang="en-US" sz="2799">
                <a:solidFill>
                  <a:srgbClr val="000000"/>
                </a:solidFill>
                <a:latin typeface="Nunito"/>
                <a:ea typeface="Nunito"/>
                <a:cs typeface="Nunito"/>
                <a:sym typeface="Nunito"/>
              </a:rPr>
              <a:t>Saved trained model and preprocessing objects using joblib.</a:t>
            </a:r>
          </a:p>
          <a:p>
            <a:pPr marL="604519" lvl="1" indent="-302260" algn="l">
              <a:lnSpc>
                <a:spcPts val="3919"/>
              </a:lnSpc>
              <a:buFont typeface="Arial"/>
              <a:buChar char="•"/>
            </a:pPr>
            <a:r>
              <a:rPr lang="en-US" sz="2799">
                <a:solidFill>
                  <a:srgbClr val="000000"/>
                </a:solidFill>
                <a:latin typeface="Nunito"/>
                <a:ea typeface="Nunito"/>
                <a:cs typeface="Nunito"/>
                <a:sym typeface="Nunito"/>
              </a:rPr>
              <a:t>Built an interactive web application using Streamlit.</a:t>
            </a:r>
          </a:p>
          <a:p>
            <a:pPr algn="l">
              <a:lnSpc>
                <a:spcPts val="3919"/>
              </a:lnSpc>
            </a:pPr>
            <a:endParaRPr lang="en-US" sz="2799">
              <a:solidFill>
                <a:srgbClr val="000000"/>
              </a:solidFill>
              <a:latin typeface="Nunito"/>
              <a:ea typeface="Nunito"/>
              <a:cs typeface="Nunito"/>
              <a:sym typeface="Nunito"/>
            </a:endParaRPr>
          </a:p>
          <a:p>
            <a:pPr algn="l">
              <a:lnSpc>
                <a:spcPts val="3919"/>
              </a:lnSpc>
            </a:pPr>
            <a:r>
              <a:rPr lang="en-US" sz="2799" b="1">
                <a:solidFill>
                  <a:srgbClr val="000000"/>
                </a:solidFill>
                <a:latin typeface="Nunito Bold"/>
                <a:ea typeface="Nunito Bold"/>
                <a:cs typeface="Nunito Bold"/>
                <a:sym typeface="Nunito Bold"/>
              </a:rPr>
              <a:t>Application Features :</a:t>
            </a:r>
          </a:p>
          <a:p>
            <a:pPr marL="604519" lvl="1" indent="-302260" algn="l">
              <a:lnSpc>
                <a:spcPts val="3919"/>
              </a:lnSpc>
              <a:buFont typeface="Arial"/>
              <a:buChar char="•"/>
            </a:pPr>
            <a:r>
              <a:rPr lang="en-US" sz="2799">
                <a:solidFill>
                  <a:srgbClr val="000000"/>
                </a:solidFill>
                <a:latin typeface="Nunito"/>
                <a:ea typeface="Nunito"/>
                <a:cs typeface="Nunito"/>
                <a:sym typeface="Nunito"/>
              </a:rPr>
              <a:t>User inputs washing machine features (Price, Capacity, RPM, Load Type, Machine Type, etc.).</a:t>
            </a:r>
          </a:p>
          <a:p>
            <a:pPr marL="604519" lvl="1" indent="-302260" algn="l">
              <a:lnSpc>
                <a:spcPts val="3919"/>
              </a:lnSpc>
              <a:buFont typeface="Arial"/>
              <a:buChar char="•"/>
            </a:pPr>
            <a:r>
              <a:rPr lang="en-US" sz="2799">
                <a:solidFill>
                  <a:srgbClr val="000000"/>
                </a:solidFill>
                <a:latin typeface="Nunito"/>
                <a:ea typeface="Nunito"/>
                <a:cs typeface="Nunito"/>
                <a:sym typeface="Nunito"/>
              </a:rPr>
              <a:t>Model predicts the appropriate cluster (Economy, Standard, Premium).</a:t>
            </a:r>
          </a:p>
          <a:p>
            <a:pPr marL="604519" lvl="1" indent="-302260" algn="l">
              <a:lnSpc>
                <a:spcPts val="3919"/>
              </a:lnSpc>
              <a:buFont typeface="Arial"/>
              <a:buChar char="•"/>
            </a:pPr>
            <a:r>
              <a:rPr lang="en-US" sz="2799">
                <a:solidFill>
                  <a:srgbClr val="000000"/>
                </a:solidFill>
                <a:latin typeface="Nunito"/>
                <a:ea typeface="Nunito"/>
                <a:cs typeface="Nunito"/>
                <a:sym typeface="Nunito"/>
              </a:rPr>
              <a:t>Simple and user-friendly interface for easy interaction.</a:t>
            </a:r>
          </a:p>
          <a:p>
            <a:pPr algn="l">
              <a:lnSpc>
                <a:spcPts val="3919"/>
              </a:lnSpc>
            </a:pPr>
            <a:endParaRPr lang="en-US" sz="2799">
              <a:solidFill>
                <a:srgbClr val="000000"/>
              </a:solidFill>
              <a:latin typeface="Nunito"/>
              <a:ea typeface="Nunito"/>
              <a:cs typeface="Nunito"/>
              <a:sym typeface="Nunito"/>
            </a:endParaRPr>
          </a:p>
          <a:p>
            <a:pPr algn="l">
              <a:lnSpc>
                <a:spcPts val="3919"/>
              </a:lnSpc>
            </a:pPr>
            <a:r>
              <a:rPr lang="en-US" sz="2799" b="1">
                <a:solidFill>
                  <a:srgbClr val="000000"/>
                </a:solidFill>
                <a:latin typeface="Nunito Bold"/>
                <a:ea typeface="Nunito Bold"/>
                <a:cs typeface="Nunito Bold"/>
                <a:sym typeface="Nunito Bold"/>
              </a:rPr>
              <a:t>Outcome :</a:t>
            </a:r>
          </a:p>
          <a:p>
            <a:pPr marL="604519" lvl="1" indent="-302260" algn="l">
              <a:lnSpc>
                <a:spcPts val="3919"/>
              </a:lnSpc>
              <a:buFont typeface="Arial"/>
              <a:buChar char="•"/>
            </a:pPr>
            <a:r>
              <a:rPr lang="en-US" sz="2799">
                <a:solidFill>
                  <a:srgbClr val="000000"/>
                </a:solidFill>
                <a:latin typeface="Nunito"/>
                <a:ea typeface="Nunito"/>
                <a:cs typeface="Nunito"/>
                <a:sym typeface="Nunito"/>
              </a:rPr>
              <a:t>Enables real-time predictions.</a:t>
            </a:r>
          </a:p>
          <a:p>
            <a:pPr marL="604519" lvl="1" indent="-302260" algn="l">
              <a:lnSpc>
                <a:spcPts val="3919"/>
              </a:lnSpc>
              <a:buFont typeface="Arial"/>
              <a:buChar char="•"/>
            </a:pPr>
            <a:r>
              <a:rPr lang="en-US" sz="2799">
                <a:solidFill>
                  <a:srgbClr val="000000"/>
                </a:solidFill>
                <a:latin typeface="Nunito"/>
                <a:ea typeface="Nunito"/>
                <a:cs typeface="Nunito"/>
                <a:sym typeface="Nunito"/>
              </a:rPr>
              <a:t>Makes the machine learning solution accessible to end users.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5600283" y="279302"/>
            <a:ext cx="7087433" cy="1038268"/>
          </a:xfrm>
          <a:prstGeom prst="rect">
            <a:avLst/>
          </a:prstGeom>
        </p:spPr>
        <p:txBody>
          <a:bodyPr lIns="0" tIns="0" rIns="0" bIns="0" rtlCol="0" anchor="t">
            <a:spAutoFit/>
          </a:bodyPr>
          <a:lstStyle/>
          <a:p>
            <a:pPr algn="ctr">
              <a:lnSpc>
                <a:spcPts val="8400"/>
              </a:lnSpc>
            </a:pPr>
            <a:r>
              <a:rPr lang="en-US" sz="6000" b="1" dirty="0">
                <a:solidFill>
                  <a:srgbClr val="000000"/>
                </a:solidFill>
                <a:latin typeface="Proxima Nova Bold"/>
                <a:ea typeface="Proxima Nova Bold"/>
                <a:cs typeface="Proxima Nova Bold"/>
                <a:sym typeface="Proxima Nova Bold"/>
              </a:rPr>
              <a:t>PROJECT INSIGHTS</a:t>
            </a:r>
          </a:p>
        </p:txBody>
      </p:sp>
      <p:sp>
        <p:nvSpPr>
          <p:cNvPr id="5" name="TextBox 5"/>
          <p:cNvSpPr txBox="1"/>
          <p:nvPr/>
        </p:nvSpPr>
        <p:spPr>
          <a:xfrm>
            <a:off x="1109458" y="2260514"/>
            <a:ext cx="16069084" cy="6781800"/>
          </a:xfrm>
          <a:prstGeom prst="rect">
            <a:avLst/>
          </a:prstGeom>
        </p:spPr>
        <p:txBody>
          <a:bodyPr lIns="0" tIns="0" rIns="0" bIns="0" rtlCol="0" anchor="t">
            <a:spAutoFit/>
          </a:bodyPr>
          <a:lstStyle/>
          <a:p>
            <a:pPr marL="647698" lvl="1" indent="-323849" algn="l">
              <a:lnSpc>
                <a:spcPts val="4199"/>
              </a:lnSpc>
              <a:buFont typeface="Arial"/>
              <a:buChar char="•"/>
            </a:pPr>
            <a:r>
              <a:rPr lang="en-US" sz="2999">
                <a:solidFill>
                  <a:srgbClr val="000000"/>
                </a:solidFill>
                <a:latin typeface="Nunito"/>
                <a:ea typeface="Nunito"/>
                <a:cs typeface="Nunito"/>
                <a:sym typeface="Nunito"/>
              </a:rPr>
              <a:t>Washing machines form well-defined clusters based on price and feature combinations.</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Price, capacity, and RPM were the most influential features in cluster formation.</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The clustered data showed strong linear separability, favoring simpler models.</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Logistic Regression outperformed other models, delivering the highest and most consistent accuracy.</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Hyperparameter tuning improved model stability rather than accuracy, confirming robust feature engineering.</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The final model choice balanced performance, interpretability, and deployment efficiency.</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4694047" y="279302"/>
            <a:ext cx="8899905" cy="1038268"/>
          </a:xfrm>
          <a:prstGeom prst="rect">
            <a:avLst/>
          </a:prstGeom>
        </p:spPr>
        <p:txBody>
          <a:bodyPr lIns="0" tIns="0" rIns="0" bIns="0" rtlCol="0" anchor="t">
            <a:spAutoFit/>
          </a:bodyPr>
          <a:lstStyle/>
          <a:p>
            <a:pPr algn="ctr">
              <a:lnSpc>
                <a:spcPts val="8400"/>
              </a:lnSpc>
            </a:pPr>
            <a:r>
              <a:rPr lang="en-US" sz="6000" b="1" dirty="0">
                <a:solidFill>
                  <a:srgbClr val="000000"/>
                </a:solidFill>
                <a:latin typeface="Proxima Nova Bold"/>
                <a:ea typeface="Proxima Nova Bold"/>
                <a:cs typeface="Proxima Nova Bold"/>
                <a:sym typeface="Proxima Nova Bold"/>
              </a:rPr>
              <a:t>DEPLOYMENT INSIGHTS</a:t>
            </a:r>
          </a:p>
        </p:txBody>
      </p:sp>
      <p:sp>
        <p:nvSpPr>
          <p:cNvPr id="5" name="TextBox 5"/>
          <p:cNvSpPr txBox="1"/>
          <p:nvPr/>
        </p:nvSpPr>
        <p:spPr>
          <a:xfrm>
            <a:off x="1839277" y="2040079"/>
            <a:ext cx="14609446" cy="7305675"/>
          </a:xfrm>
          <a:prstGeom prst="rect">
            <a:avLst/>
          </a:prstGeom>
        </p:spPr>
        <p:txBody>
          <a:bodyPr lIns="0" tIns="0" rIns="0" bIns="0" rtlCol="0" anchor="t">
            <a:spAutoFit/>
          </a:bodyPr>
          <a:lstStyle/>
          <a:p>
            <a:pPr marL="647698" lvl="1" indent="-323849" algn="l">
              <a:lnSpc>
                <a:spcPts val="4199"/>
              </a:lnSpc>
              <a:buFont typeface="Arial"/>
              <a:buChar char="•"/>
            </a:pPr>
            <a:r>
              <a:rPr lang="en-US" sz="2999">
                <a:solidFill>
                  <a:srgbClr val="000000"/>
                </a:solidFill>
                <a:latin typeface="Nunito"/>
                <a:ea typeface="Nunito"/>
                <a:cs typeface="Nunito"/>
                <a:sym typeface="Nunito"/>
              </a:rPr>
              <a:t>The deployed Logistic Regression model accurately classifies all three clusters (Economy, Standard, Premium) based on user inputs.</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Price, capacity, and RPM changes clearly shift predictions, showing the model has learned meaningful feature relationships.</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Mid-range inputs are correctly predicted as Standard, validating smooth decision boundaries between clusters.</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Extreme values (high-end or low-end) are consistently mapped to Premium and Economy, proving robustness.</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The Streamlit application successfully enables real-time, end-to-end prediction, confirming the model is production-ready.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5183904" y="279302"/>
            <a:ext cx="7920190" cy="1038268"/>
          </a:xfrm>
          <a:prstGeom prst="rect">
            <a:avLst/>
          </a:prstGeom>
        </p:spPr>
        <p:txBody>
          <a:bodyPr lIns="0" tIns="0" rIns="0" bIns="0" rtlCol="0" anchor="t">
            <a:spAutoFit/>
          </a:bodyPr>
          <a:lstStyle/>
          <a:p>
            <a:pPr algn="ctr">
              <a:lnSpc>
                <a:spcPts val="8400"/>
              </a:lnSpc>
            </a:pPr>
            <a:r>
              <a:rPr lang="en-US" sz="6000" b="1" dirty="0">
                <a:solidFill>
                  <a:srgbClr val="000000"/>
                </a:solidFill>
                <a:latin typeface="Proxima Nova Bold"/>
                <a:ea typeface="Proxima Nova Bold"/>
                <a:cs typeface="Proxima Nova Bold"/>
                <a:sym typeface="Proxima Nova Bold"/>
              </a:rPr>
              <a:t>RECOMMENDATIONS</a:t>
            </a:r>
          </a:p>
        </p:txBody>
      </p:sp>
      <p:sp>
        <p:nvSpPr>
          <p:cNvPr id="5" name="TextBox 5"/>
          <p:cNvSpPr txBox="1"/>
          <p:nvPr/>
        </p:nvSpPr>
        <p:spPr>
          <a:xfrm>
            <a:off x="1146197" y="1952625"/>
            <a:ext cx="15995605" cy="7305675"/>
          </a:xfrm>
          <a:prstGeom prst="rect">
            <a:avLst/>
          </a:prstGeom>
        </p:spPr>
        <p:txBody>
          <a:bodyPr lIns="0" tIns="0" rIns="0" bIns="0" rtlCol="0" anchor="t">
            <a:spAutoFit/>
          </a:bodyPr>
          <a:lstStyle/>
          <a:p>
            <a:pPr marL="647698" lvl="1" indent="-323849" algn="l">
              <a:lnSpc>
                <a:spcPts val="4199"/>
              </a:lnSpc>
              <a:buFont typeface="Arial"/>
              <a:buChar char="•"/>
            </a:pPr>
            <a:r>
              <a:rPr lang="en-US" sz="2999">
                <a:solidFill>
                  <a:srgbClr val="000000"/>
                </a:solidFill>
                <a:latin typeface="Nunito"/>
                <a:ea typeface="Nunito"/>
                <a:cs typeface="Nunito"/>
                <a:sym typeface="Nunito"/>
              </a:rPr>
              <a:t>Use the deployed Logistic Regression model for real-time washing machine classification due to its accuracy and reliability.</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Leverage predicted clusters to support pricing, product positioning, and inventory decisions.</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Integrate the application with live e-commerce data to enable automatic classification of new products.</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Monitor predictions over time and retrain the model periodically with updated market data.</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Extend the solution to include customer preference or sales analysis for deeper business insights.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6482025" y="279302"/>
            <a:ext cx="5323947" cy="1038268"/>
          </a:xfrm>
          <a:prstGeom prst="rect">
            <a:avLst/>
          </a:prstGeom>
        </p:spPr>
        <p:txBody>
          <a:bodyPr lIns="0" tIns="0" rIns="0" bIns="0" rtlCol="0" anchor="t">
            <a:spAutoFit/>
          </a:bodyPr>
          <a:lstStyle/>
          <a:p>
            <a:pPr algn="ctr">
              <a:lnSpc>
                <a:spcPts val="8400"/>
              </a:lnSpc>
            </a:pPr>
            <a:r>
              <a:rPr lang="en-US" sz="6000" b="1" dirty="0">
                <a:solidFill>
                  <a:srgbClr val="000000"/>
                </a:solidFill>
                <a:latin typeface="Proxima Nova Bold"/>
                <a:ea typeface="Proxima Nova Bold"/>
                <a:cs typeface="Proxima Nova Bold"/>
                <a:sym typeface="Proxima Nova Bold"/>
              </a:rPr>
              <a:t>CONCLUSION</a:t>
            </a:r>
          </a:p>
        </p:txBody>
      </p:sp>
      <p:sp>
        <p:nvSpPr>
          <p:cNvPr id="5" name="TextBox 5"/>
          <p:cNvSpPr txBox="1"/>
          <p:nvPr/>
        </p:nvSpPr>
        <p:spPr>
          <a:xfrm>
            <a:off x="1146197" y="2197553"/>
            <a:ext cx="15995605" cy="6781800"/>
          </a:xfrm>
          <a:prstGeom prst="rect">
            <a:avLst/>
          </a:prstGeom>
        </p:spPr>
        <p:txBody>
          <a:bodyPr lIns="0" tIns="0" rIns="0" bIns="0" rtlCol="0" anchor="t">
            <a:spAutoFit/>
          </a:bodyPr>
          <a:lstStyle/>
          <a:p>
            <a:pPr marL="647698" lvl="1" indent="-323849" algn="l">
              <a:lnSpc>
                <a:spcPts val="4199"/>
              </a:lnSpc>
              <a:buFont typeface="Arial"/>
              <a:buChar char="•"/>
            </a:pPr>
            <a:r>
              <a:rPr lang="en-US" sz="2999">
                <a:solidFill>
                  <a:srgbClr val="000000"/>
                </a:solidFill>
                <a:latin typeface="Nunito"/>
                <a:ea typeface="Nunito"/>
                <a:cs typeface="Nunito"/>
                <a:sym typeface="Nunito"/>
              </a:rPr>
              <a:t>The project successfully implemented an end-to-end machine learning pipeline from data collection to deployment.</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K-Means clustering effectively segmented washing machines into meaningful market groups.</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Logistic Regression emerged as the best-performing model, delivering high accuracy and consistent predictions.</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The trained model was successfully deployed using Streamlit for real-time classification.</a:t>
            </a:r>
          </a:p>
          <a:p>
            <a:pPr algn="l">
              <a:lnSpc>
                <a:spcPts val="4199"/>
              </a:lnSpc>
            </a:pPr>
            <a:endParaRPr lang="en-US" sz="2999">
              <a:solidFill>
                <a:srgbClr val="000000"/>
              </a:solidFill>
              <a:latin typeface="Nunito"/>
              <a:ea typeface="Nunito"/>
              <a:cs typeface="Nunito"/>
              <a:sym typeface="Nunito"/>
            </a:endParaRPr>
          </a:p>
          <a:p>
            <a:pPr marL="647698" lvl="1" indent="-323849" algn="l">
              <a:lnSpc>
                <a:spcPts val="4199"/>
              </a:lnSpc>
              <a:buFont typeface="Arial"/>
              <a:buChar char="•"/>
            </a:pPr>
            <a:r>
              <a:rPr lang="en-US" sz="2999">
                <a:solidFill>
                  <a:srgbClr val="000000"/>
                </a:solidFill>
                <a:latin typeface="Nunito"/>
                <a:ea typeface="Nunito"/>
                <a:cs typeface="Nunito"/>
                <a:sym typeface="Nunito"/>
              </a:rPr>
              <a:t>The solution demonstrates a scalable and practical approach to product segmentation and prediction.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BEBEB"/>
        </a:solidFill>
        <a:effectLst/>
      </p:bgPr>
    </p:bg>
    <p:spTree>
      <p:nvGrpSpPr>
        <p:cNvPr id="1" name=""/>
        <p:cNvGrpSpPr/>
        <p:nvPr/>
      </p:nvGrpSpPr>
      <p:grpSpPr>
        <a:xfrm>
          <a:off x="0" y="0"/>
          <a:ext cx="0" cy="0"/>
          <a:chOff x="0" y="0"/>
          <a:chExt cx="0" cy="0"/>
        </a:xfrm>
      </p:grpSpPr>
      <p:sp>
        <p:nvSpPr>
          <p:cNvPr id="2" name="Freeform 2"/>
          <p:cNvSpPr/>
          <p:nvPr/>
        </p:nvSpPr>
        <p:spPr>
          <a:xfrm>
            <a:off x="-2057400" y="-125896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702233" y="-903796"/>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Freeform 4"/>
          <p:cNvSpPr/>
          <p:nvPr/>
        </p:nvSpPr>
        <p:spPr>
          <a:xfrm>
            <a:off x="16230600" y="72009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5" name="Freeform 5"/>
          <p:cNvSpPr/>
          <p:nvPr/>
        </p:nvSpPr>
        <p:spPr>
          <a:xfrm>
            <a:off x="16585767" y="7556067"/>
            <a:ext cx="3404467" cy="3404467"/>
          </a:xfrm>
          <a:custGeom>
            <a:avLst/>
            <a:gdLst/>
            <a:ahLst/>
            <a:cxnLst/>
            <a:rect l="l" t="t" r="r" b="b"/>
            <a:pathLst>
              <a:path w="3404467" h="3404467">
                <a:moveTo>
                  <a:pt x="0" y="0"/>
                </a:moveTo>
                <a:lnTo>
                  <a:pt x="3404466" y="0"/>
                </a:lnTo>
                <a:lnTo>
                  <a:pt x="3404466" y="3404466"/>
                </a:lnTo>
                <a:lnTo>
                  <a:pt x="0" y="340446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6" name="Group 6"/>
          <p:cNvGrpSpPr/>
          <p:nvPr/>
        </p:nvGrpSpPr>
        <p:grpSpPr>
          <a:xfrm>
            <a:off x="12319137" y="9258300"/>
            <a:ext cx="3911463" cy="3911463"/>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8" name="TextBox 8"/>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16998733" y="7969033"/>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10" name="Freeform 10"/>
          <p:cNvSpPr/>
          <p:nvPr/>
        </p:nvSpPr>
        <p:spPr>
          <a:xfrm>
            <a:off x="-1289267" y="-490830"/>
            <a:ext cx="2578533" cy="2578533"/>
          </a:xfrm>
          <a:custGeom>
            <a:avLst/>
            <a:gdLst/>
            <a:ahLst/>
            <a:cxnLst/>
            <a:rect l="l" t="t" r="r" b="b"/>
            <a:pathLst>
              <a:path w="2578533" h="2578533">
                <a:moveTo>
                  <a:pt x="0" y="0"/>
                </a:moveTo>
                <a:lnTo>
                  <a:pt x="2578534" y="0"/>
                </a:lnTo>
                <a:lnTo>
                  <a:pt x="2578534" y="2578534"/>
                </a:lnTo>
                <a:lnTo>
                  <a:pt x="0" y="257853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11" name="Group 11"/>
          <p:cNvGrpSpPr/>
          <p:nvPr/>
        </p:nvGrpSpPr>
        <p:grpSpPr>
          <a:xfrm>
            <a:off x="2129385" y="-2859528"/>
            <a:ext cx="3911463" cy="3911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474646"/>
            </a:solidFill>
          </p:spPr>
        </p:sp>
        <p:sp>
          <p:nvSpPr>
            <p:cNvPr id="13" name="TextBox 13"/>
            <p:cNvSpPr txBox="1"/>
            <p:nvPr/>
          </p:nvSpPr>
          <p:spPr>
            <a:xfrm>
              <a:off x="76200" y="38100"/>
              <a:ext cx="660400" cy="698500"/>
            </a:xfrm>
            <a:prstGeom prst="rect">
              <a:avLst/>
            </a:prstGeom>
          </p:spPr>
          <p:txBody>
            <a:bodyPr lIns="50800" tIns="50800" rIns="50800" bIns="50800" rtlCol="0" anchor="ctr"/>
            <a:lstStyle/>
            <a:p>
              <a:pPr algn="ctr">
                <a:lnSpc>
                  <a:spcPts val="2659"/>
                </a:lnSpc>
                <a:spcBef>
                  <a:spcPct val="0"/>
                </a:spcBef>
              </a:pPr>
              <a:endParaRPr/>
            </a:p>
          </p:txBody>
        </p:sp>
      </p:grpSp>
      <p:sp>
        <p:nvSpPr>
          <p:cNvPr id="14" name="TextBox 14"/>
          <p:cNvSpPr txBox="1"/>
          <p:nvPr/>
        </p:nvSpPr>
        <p:spPr>
          <a:xfrm>
            <a:off x="4013131" y="3908425"/>
            <a:ext cx="10261737" cy="2222501"/>
          </a:xfrm>
          <a:prstGeom prst="rect">
            <a:avLst/>
          </a:prstGeom>
        </p:spPr>
        <p:txBody>
          <a:bodyPr lIns="0" tIns="0" rIns="0" bIns="0" rtlCol="0" anchor="t">
            <a:spAutoFit/>
          </a:bodyPr>
          <a:lstStyle/>
          <a:p>
            <a:pPr algn="ctr">
              <a:lnSpc>
                <a:spcPts val="18199"/>
              </a:lnSpc>
            </a:pPr>
            <a:r>
              <a:rPr lang="en-US" sz="12999" b="1">
                <a:solidFill>
                  <a:srgbClr val="000000"/>
                </a:solidFill>
                <a:latin typeface="Proxima Nova Bold"/>
                <a:ea typeface="Proxima Nova Bold"/>
                <a:cs typeface="Proxima Nova Bold"/>
                <a:sym typeface="Proxima Nova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177</TotalTime>
  <Words>1251</Words>
  <Application>Microsoft Office PowerPoint</Application>
  <PresentationFormat>Custom</PresentationFormat>
  <Paragraphs>184</Paragraphs>
  <Slides>17</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Nunito</vt:lpstr>
      <vt:lpstr>Proxima Nova Bold</vt:lpstr>
      <vt:lpstr>Calibri</vt:lpstr>
      <vt:lpstr>Nunito Bold</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Grey Black Minimalist Simple Project Presentation</dc:title>
  <cp:lastModifiedBy>WELCOME</cp:lastModifiedBy>
  <cp:revision>4</cp:revision>
  <dcterms:created xsi:type="dcterms:W3CDTF">2006-08-16T00:00:00Z</dcterms:created>
  <dcterms:modified xsi:type="dcterms:W3CDTF">2025-12-14T15:48:41Z</dcterms:modified>
  <dc:identifier>DAG7eM9klDs</dc:identifier>
</cp:coreProperties>
</file>